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anva Sans Bold" charset="1" panose="020B0803030501040103"/>
      <p:regular r:id="rId28"/>
    </p:embeddedFont>
    <p:embeddedFont>
      <p:font typeface="Josefin Sans Bold" charset="1" panose="00000800000000000000"/>
      <p:regular r:id="rId29"/>
    </p:embeddedFont>
    <p:embeddedFont>
      <p:font typeface="Josefin Sans" charset="1" panose="00000500000000000000"/>
      <p:regular r:id="rId30"/>
    </p:embeddedFont>
    <p:embeddedFont>
      <p:font typeface="Bricolage Grotesque 18 Bold" charset="1" panose="020B0605040402000204"/>
      <p:regular r:id="rId31"/>
    </p:embeddedFont>
    <p:embeddedFont>
      <p:font typeface="Canva Sans" charset="1" panose="020B0503030501040103"/>
      <p:regular r:id="rId35"/>
    </p:embeddedFont>
    <p:embeddedFont>
      <p:font typeface="League Gothic" charset="1" panose="000005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Masters/notesMaster1.xml" Type="http://schemas.openxmlformats.org/officeDocument/2006/relationships/notesMaster"/><Relationship Id="rId33" Target="theme/theme2.xml" Type="http://schemas.openxmlformats.org/officeDocument/2006/relationships/theme"/><Relationship Id="rId34" Target="notesSlides/notesSlide1.xml" Type="http://schemas.openxmlformats.org/officeDocument/2006/relationships/notesSlide"/><Relationship Id="rId35" Target="fonts/font35.fntdata" Type="http://schemas.openxmlformats.org/officeDocument/2006/relationships/font"/><Relationship Id="rId36" Target="notesSlides/notesSlide2.xml" Type="http://schemas.openxmlformats.org/officeDocument/2006/relationships/notesSlide"/><Relationship Id="rId37" Target="notesSlides/notesSlide3.xml" Type="http://schemas.openxmlformats.org/officeDocument/2006/relationships/notesSlide"/><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Thông qua đề tài này, sinh viên có cơ hội tiếp cận quy trình thiết kế phần</a:t>
            </a:r>
          </a:p>
          <a:p>
            <a:r>
              <a:rPr lang="en-US"/>
              <a:t>cứng số từ bước phân tích yêu cầu, xây dựng FSM, mô tả RTL cho đến kiểm</a:t>
            </a:r>
          </a:p>
          <a:p>
            <a:r>
              <a:rPr lang="en-US"/>
              <a:t>chứng hoạt động của hệ thống bằng mô phỏng.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Thông qua đề tài này, sinh viên có cơ hội tiếp cận quy trình thiết kế phần</a:t>
            </a:r>
          </a:p>
          <a:p>
            <a:r>
              <a:rPr lang="en-US"/>
              <a:t>cứng số từ bước phân tích yêu cầu, xây dựng FSM, mô tả RTL cho đến kiểm</a:t>
            </a:r>
          </a:p>
          <a:p>
            <a:r>
              <a:rPr lang="en-US"/>
              <a:t>chứng hoạt động của hệ thống bằng mô phỏng.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Thông qua đề tài này, sinh viên có cơ hội tiếp cận quy trình thiết kế phần</a:t>
            </a:r>
          </a:p>
          <a:p>
            <a:r>
              <a:rPr lang="en-US"/>
              <a:t>cứng số từ bước phân tích yêu cầu, xây dựng FSM, mô tả RTL cho đến kiểm</a:t>
            </a:r>
          </a:p>
          <a:p>
            <a:r>
              <a:rPr lang="en-US"/>
              <a:t>chứng hoạt động của hệ thống bằng mô phỏng.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232F"/>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85859" y="277802"/>
            <a:ext cx="1485682" cy="1501796"/>
          </a:xfrm>
          <a:custGeom>
            <a:avLst/>
            <a:gdLst/>
            <a:ahLst/>
            <a:cxnLst/>
            <a:rect r="r" b="b" t="t" l="l"/>
            <a:pathLst>
              <a:path h="1501796" w="1485682">
                <a:moveTo>
                  <a:pt x="0" y="0"/>
                </a:moveTo>
                <a:lnTo>
                  <a:pt x="1485682" y="0"/>
                </a:lnTo>
                <a:lnTo>
                  <a:pt x="1485682" y="1501796"/>
                </a:lnTo>
                <a:lnTo>
                  <a:pt x="0" y="1501796"/>
                </a:lnTo>
                <a:lnTo>
                  <a:pt x="0" y="0"/>
                </a:lnTo>
                <a:close/>
              </a:path>
            </a:pathLst>
          </a:custGeom>
          <a:blipFill>
            <a:blip r:embed="rId2"/>
            <a:stretch>
              <a:fillRect l="0" t="0" r="0" b="0"/>
            </a:stretch>
          </a:blipFill>
        </p:spPr>
      </p:sp>
      <p:grpSp>
        <p:nvGrpSpPr>
          <p:cNvPr name="Group 6" id="6"/>
          <p:cNvGrpSpPr/>
          <p:nvPr/>
        </p:nvGrpSpPr>
        <p:grpSpPr>
          <a:xfrm rot="0">
            <a:off x="12012930" y="4011930"/>
            <a:ext cx="5246370" cy="524637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4931" t="0" r="-24931" b="0"/>
              </a:stretch>
            </a:blipFill>
          </p:spPr>
        </p:sp>
      </p:grpSp>
      <p:sp>
        <p:nvSpPr>
          <p:cNvPr name="TextBox 8" id="8"/>
          <p:cNvSpPr txBox="true"/>
          <p:nvPr/>
        </p:nvSpPr>
        <p:spPr>
          <a:xfrm rot="0">
            <a:off x="2237318" y="1143000"/>
            <a:ext cx="12297116" cy="2990850"/>
          </a:xfrm>
          <a:prstGeom prst="rect">
            <a:avLst/>
          </a:prstGeom>
        </p:spPr>
        <p:txBody>
          <a:bodyPr anchor="t" rtlCol="false" tIns="0" lIns="0" bIns="0" rIns="0">
            <a:spAutoFit/>
          </a:bodyPr>
          <a:lstStyle/>
          <a:p>
            <a:pPr algn="l">
              <a:lnSpc>
                <a:spcPts val="7725"/>
              </a:lnSpc>
            </a:pPr>
            <a:r>
              <a:rPr lang="en-US" b="true" sz="7500" spc="1207">
                <a:gradFill>
                  <a:gsLst>
                    <a:gs pos="0">
                      <a:srgbClr val="FFDE59">
                        <a:alpha val="100000"/>
                      </a:srgbClr>
                    </a:gs>
                    <a:gs pos="100000">
                      <a:srgbClr val="FF914D">
                        <a:alpha val="100000"/>
                      </a:srgbClr>
                    </a:gs>
                  </a:gsLst>
                  <a:lin ang="0"/>
                </a:gradFill>
                <a:latin typeface="Canva Sans Bold"/>
                <a:ea typeface="Canva Sans Bold"/>
                <a:cs typeface="Canva Sans Bold"/>
                <a:sym typeface="Canva Sans Bold"/>
              </a:rPr>
              <a:t>WASHING MACHINE CONTROL PANEL SIMULATION</a:t>
            </a:r>
          </a:p>
        </p:txBody>
      </p:sp>
      <p:sp>
        <p:nvSpPr>
          <p:cNvPr name="TextBox 9" id="9"/>
          <p:cNvSpPr txBox="true"/>
          <p:nvPr/>
        </p:nvSpPr>
        <p:spPr>
          <a:xfrm rot="0">
            <a:off x="1028700" y="7251700"/>
            <a:ext cx="7219775" cy="2006600"/>
          </a:xfrm>
          <a:prstGeom prst="rect">
            <a:avLst/>
          </a:prstGeom>
        </p:spPr>
        <p:txBody>
          <a:bodyPr anchor="t" rtlCol="false" tIns="0" lIns="0" bIns="0" rIns="0">
            <a:spAutoFit/>
          </a:bodyPr>
          <a:lstStyle/>
          <a:p>
            <a:pPr algn="l">
              <a:lnSpc>
                <a:spcPts val="5364"/>
              </a:lnSpc>
            </a:pPr>
            <a:r>
              <a:rPr lang="en-US" sz="3699" b="true">
                <a:solidFill>
                  <a:srgbClr val="ECC848"/>
                </a:solidFill>
                <a:latin typeface="Josefin Sans Bold"/>
                <a:ea typeface="Josefin Sans Bold"/>
                <a:cs typeface="Josefin Sans Bold"/>
                <a:sym typeface="Josefin Sans Bold"/>
              </a:rPr>
              <a:t>Đồ án môn học Thiết kế Luận lý</a:t>
            </a:r>
          </a:p>
          <a:p>
            <a:pPr algn="l">
              <a:lnSpc>
                <a:spcPts val="5364"/>
              </a:lnSpc>
            </a:pPr>
            <a:r>
              <a:rPr lang="en-US" sz="3699" b="true">
                <a:solidFill>
                  <a:srgbClr val="ECC848"/>
                </a:solidFill>
                <a:latin typeface="Josefin Sans Bold"/>
                <a:ea typeface="Josefin Sans Bold"/>
                <a:cs typeface="Josefin Sans Bold"/>
                <a:sym typeface="Josefin Sans Bold"/>
              </a:rPr>
              <a:t>GVHD: Phan Văn Sỹ</a:t>
            </a:r>
          </a:p>
          <a:p>
            <a:pPr algn="l">
              <a:lnSpc>
                <a:spcPts val="5364"/>
              </a:lnSpc>
            </a:pPr>
            <a:r>
              <a:rPr lang="en-US" sz="3699" b="true">
                <a:solidFill>
                  <a:srgbClr val="ECC848"/>
                </a:solidFill>
                <a:latin typeface="Josefin Sans Bold"/>
                <a:ea typeface="Josefin Sans Bold"/>
                <a:cs typeface="Josefin Sans Bold"/>
                <a:sym typeface="Josefin Sans Bold"/>
              </a:rPr>
              <a:t>L02 </a:t>
            </a:r>
            <a:r>
              <a:rPr lang="en-US" sz="3699" b="true">
                <a:solidFill>
                  <a:srgbClr val="ECC848"/>
                </a:solidFill>
                <a:latin typeface="Josefin Sans Bold"/>
                <a:ea typeface="Josefin Sans Bold"/>
                <a:cs typeface="Josefin Sans Bold"/>
                <a:sym typeface="Josefin Sans Bold"/>
              </a:rPr>
              <a:t>- Nhóm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06"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142875"/>
              <a:ext cx="4816822" cy="2566458"/>
            </a:xfrm>
            <a:prstGeom prst="rect">
              <a:avLst/>
            </a:prstGeom>
          </p:spPr>
          <p:txBody>
            <a:bodyPr anchor="ctr" rtlCol="false" tIns="50800" lIns="50800" bIns="50800" rIns="50800"/>
            <a:lstStyle/>
            <a:p>
              <a:pPr algn="l" marL="0" indent="0" lvl="0">
                <a:lnSpc>
                  <a:spcPts val="9270"/>
                </a:lnSpc>
                <a:spcBef>
                  <a:spcPct val="0"/>
                </a:spcBef>
              </a:pPr>
            </a:p>
          </p:txBody>
        </p:sp>
      </p:grpSp>
      <p:sp>
        <p:nvSpPr>
          <p:cNvPr name="Freeform 5" id="5"/>
          <p:cNvSpPr/>
          <p:nvPr/>
        </p:nvSpPr>
        <p:spPr>
          <a:xfrm flipH="false" flipV="false" rot="0">
            <a:off x="3652588" y="3950564"/>
            <a:ext cx="2310667" cy="336097"/>
          </a:xfrm>
          <a:custGeom>
            <a:avLst/>
            <a:gdLst/>
            <a:ahLst/>
            <a:cxnLst/>
            <a:rect r="r" b="b" t="t" l="l"/>
            <a:pathLst>
              <a:path h="336097" w="2310667">
                <a:moveTo>
                  <a:pt x="0" y="0"/>
                </a:moveTo>
                <a:lnTo>
                  <a:pt x="2310667" y="0"/>
                </a:lnTo>
                <a:lnTo>
                  <a:pt x="2310667" y="336097"/>
                </a:lnTo>
                <a:lnTo>
                  <a:pt x="0" y="336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875123" y="7314818"/>
            <a:ext cx="1777465" cy="258540"/>
          </a:xfrm>
          <a:custGeom>
            <a:avLst/>
            <a:gdLst/>
            <a:ahLst/>
            <a:cxnLst/>
            <a:rect r="r" b="b" t="t" l="l"/>
            <a:pathLst>
              <a:path h="258540" w="1777465">
                <a:moveTo>
                  <a:pt x="0" y="0"/>
                </a:moveTo>
                <a:lnTo>
                  <a:pt x="1777465" y="0"/>
                </a:lnTo>
                <a:lnTo>
                  <a:pt x="1777465" y="258540"/>
                </a:lnTo>
                <a:lnTo>
                  <a:pt x="0" y="2585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564772" y="7444088"/>
            <a:ext cx="2310667" cy="336097"/>
          </a:xfrm>
          <a:custGeom>
            <a:avLst/>
            <a:gdLst/>
            <a:ahLst/>
            <a:cxnLst/>
            <a:rect r="r" b="b" t="t" l="l"/>
            <a:pathLst>
              <a:path h="336097" w="2310667">
                <a:moveTo>
                  <a:pt x="0" y="0"/>
                </a:moveTo>
                <a:lnTo>
                  <a:pt x="2310667" y="0"/>
                </a:lnTo>
                <a:lnTo>
                  <a:pt x="2310667" y="336097"/>
                </a:lnTo>
                <a:lnTo>
                  <a:pt x="0" y="336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0">
            <a:off x="16806" y="6833549"/>
            <a:ext cx="4750922" cy="3368836"/>
          </a:xfrm>
          <a:custGeom>
            <a:avLst/>
            <a:gdLst/>
            <a:ahLst/>
            <a:cxnLst/>
            <a:rect r="r" b="b" t="t" l="l"/>
            <a:pathLst>
              <a:path h="3368836" w="4750922">
                <a:moveTo>
                  <a:pt x="0" y="3368836"/>
                </a:moveTo>
                <a:lnTo>
                  <a:pt x="4750923" y="3368836"/>
                </a:lnTo>
                <a:lnTo>
                  <a:pt x="4750923" y="0"/>
                </a:lnTo>
                <a:lnTo>
                  <a:pt x="0" y="0"/>
                </a:lnTo>
                <a:lnTo>
                  <a:pt x="0" y="336883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104664" y="1086680"/>
            <a:ext cx="12078672" cy="1028700"/>
          </a:xfrm>
          <a:prstGeom prst="rect">
            <a:avLst/>
          </a:prstGeom>
        </p:spPr>
        <p:txBody>
          <a:bodyPr anchor="t" rtlCol="false" tIns="0" lIns="0" bIns="0" rIns="0">
            <a:spAutoFit/>
          </a:bodyPr>
          <a:lstStyle/>
          <a:p>
            <a:pPr algn="l" marL="0" indent="0" lvl="0">
              <a:lnSpc>
                <a:spcPts val="7725"/>
              </a:lnSpc>
              <a:spcBef>
                <a:spcPct val="0"/>
              </a:spcBef>
            </a:pPr>
            <a:r>
              <a:rPr lang="en-US" b="true" sz="7500" spc="1207" strike="noStrike" u="none">
                <a:gradFill>
                  <a:gsLst>
                    <a:gs pos="0">
                      <a:srgbClr val="FFDE59">
                        <a:alpha val="100000"/>
                      </a:srgbClr>
                    </a:gs>
                    <a:gs pos="100000">
                      <a:srgbClr val="FF914D">
                        <a:alpha val="100000"/>
                      </a:srgbClr>
                    </a:gs>
                  </a:gsLst>
                  <a:lin ang="0"/>
                </a:gradFill>
                <a:latin typeface="Canva Sans Bold"/>
                <a:ea typeface="Canva Sans Bold"/>
                <a:cs typeface="Canva Sans Bold"/>
                <a:sym typeface="Canva Sans Bold"/>
              </a:rPr>
              <a:t>THÀNH VIÊN NHÓM</a:t>
            </a:r>
          </a:p>
        </p:txBody>
      </p:sp>
      <p:sp>
        <p:nvSpPr>
          <p:cNvPr name="TextBox 11" id="11"/>
          <p:cNvSpPr txBox="true"/>
          <p:nvPr/>
        </p:nvSpPr>
        <p:spPr>
          <a:xfrm rot="0">
            <a:off x="6965407" y="3464563"/>
            <a:ext cx="5728081" cy="654050"/>
          </a:xfrm>
          <a:prstGeom prst="rect">
            <a:avLst/>
          </a:prstGeom>
        </p:spPr>
        <p:txBody>
          <a:bodyPr anchor="t" rtlCol="false" tIns="0" lIns="0" bIns="0" rIns="0">
            <a:spAutoFit/>
          </a:bodyPr>
          <a:lstStyle/>
          <a:p>
            <a:pPr algn="l">
              <a:lnSpc>
                <a:spcPts val="5364"/>
              </a:lnSpc>
            </a:pPr>
            <a:r>
              <a:rPr lang="en-US" sz="3699">
                <a:solidFill>
                  <a:srgbClr val="ECC848"/>
                </a:solidFill>
                <a:latin typeface="Josefin Sans"/>
                <a:ea typeface="Josefin Sans"/>
                <a:cs typeface="Josefin Sans"/>
                <a:sym typeface="Josefin Sans"/>
              </a:rPr>
              <a:t>Mai Chấn Hưng &amp; 2311332</a:t>
            </a:r>
          </a:p>
        </p:txBody>
      </p:sp>
      <p:sp>
        <p:nvSpPr>
          <p:cNvPr name="Freeform 12" id="12"/>
          <p:cNvSpPr/>
          <p:nvPr/>
        </p:nvSpPr>
        <p:spPr>
          <a:xfrm flipH="false" flipV="false" rot="0">
            <a:off x="14166426" y="4028121"/>
            <a:ext cx="1777465" cy="258540"/>
          </a:xfrm>
          <a:custGeom>
            <a:avLst/>
            <a:gdLst/>
            <a:ahLst/>
            <a:cxnLst/>
            <a:rect r="r" b="b" t="t" l="l"/>
            <a:pathLst>
              <a:path h="258540" w="1777465">
                <a:moveTo>
                  <a:pt x="0" y="0"/>
                </a:moveTo>
                <a:lnTo>
                  <a:pt x="1777465" y="0"/>
                </a:lnTo>
                <a:lnTo>
                  <a:pt x="1777465" y="258540"/>
                </a:lnTo>
                <a:lnTo>
                  <a:pt x="0" y="2585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6517908" y="4880613"/>
            <a:ext cx="5902762" cy="654050"/>
          </a:xfrm>
          <a:prstGeom prst="rect">
            <a:avLst/>
          </a:prstGeom>
        </p:spPr>
        <p:txBody>
          <a:bodyPr anchor="t" rtlCol="false" tIns="0" lIns="0" bIns="0" rIns="0">
            <a:spAutoFit/>
          </a:bodyPr>
          <a:lstStyle/>
          <a:p>
            <a:pPr algn="ctr">
              <a:lnSpc>
                <a:spcPts val="5364"/>
              </a:lnSpc>
              <a:spcBef>
                <a:spcPct val="0"/>
              </a:spcBef>
            </a:pPr>
            <a:r>
              <a:rPr lang="en-US" sz="3699">
                <a:solidFill>
                  <a:srgbClr val="ECC848"/>
                </a:solidFill>
                <a:latin typeface="Josefin Sans"/>
                <a:ea typeface="Josefin Sans"/>
                <a:cs typeface="Josefin Sans"/>
                <a:sym typeface="Josefin Sans"/>
              </a:rPr>
              <a:t>Nguyễn Hữu Nghị </a:t>
            </a:r>
            <a:r>
              <a:rPr lang="en-US" sz="3699">
                <a:solidFill>
                  <a:srgbClr val="ECC848"/>
                </a:solidFill>
                <a:latin typeface="Josefin Sans"/>
                <a:ea typeface="Josefin Sans"/>
                <a:cs typeface="Josefin Sans"/>
                <a:sym typeface="Josefin Sans"/>
              </a:rPr>
              <a:t>&amp; 2311118</a:t>
            </a:r>
          </a:p>
        </p:txBody>
      </p:sp>
      <p:sp>
        <p:nvSpPr>
          <p:cNvPr name="TextBox 14" id="14"/>
          <p:cNvSpPr txBox="true"/>
          <p:nvPr/>
        </p:nvSpPr>
        <p:spPr>
          <a:xfrm rot="0">
            <a:off x="4547665" y="6296663"/>
            <a:ext cx="8276511" cy="654050"/>
          </a:xfrm>
          <a:prstGeom prst="rect">
            <a:avLst/>
          </a:prstGeom>
        </p:spPr>
        <p:txBody>
          <a:bodyPr anchor="t" rtlCol="false" tIns="0" lIns="0" bIns="0" rIns="0">
            <a:spAutoFit/>
          </a:bodyPr>
          <a:lstStyle/>
          <a:p>
            <a:pPr algn="ctr">
              <a:lnSpc>
                <a:spcPts val="5364"/>
              </a:lnSpc>
              <a:spcBef>
                <a:spcPct val="0"/>
              </a:spcBef>
            </a:pPr>
            <a:r>
              <a:rPr lang="en-US" sz="3699">
                <a:solidFill>
                  <a:srgbClr val="ECC848"/>
                </a:solidFill>
                <a:latin typeface="Josefin Sans"/>
                <a:ea typeface="Josefin Sans"/>
                <a:cs typeface="Josefin Sans"/>
                <a:sym typeface="Josefin Sans"/>
              </a:rPr>
              <a:t>Nguyễn Minh Minh Nguyên &amp; 2212309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a:p>
              <a:pPr algn="ctr">
                <a:lnSpc>
                  <a:spcPts val="2659"/>
                </a:lnSpc>
                <a:spcBef>
                  <a:spcPct val="0"/>
                </a:spcBef>
              </a:pPr>
            </a:p>
          </p:txBody>
        </p:sp>
      </p:grpSp>
      <p:sp>
        <p:nvSpPr>
          <p:cNvPr name="Freeform 5" id="5"/>
          <p:cNvSpPr/>
          <p:nvPr/>
        </p:nvSpPr>
        <p:spPr>
          <a:xfrm flipH="false" flipV="false" rot="0">
            <a:off x="157947" y="4815102"/>
            <a:ext cx="5321839" cy="5321839"/>
          </a:xfrm>
          <a:custGeom>
            <a:avLst/>
            <a:gdLst/>
            <a:ahLst/>
            <a:cxnLst/>
            <a:rect r="r" b="b" t="t" l="l"/>
            <a:pathLst>
              <a:path h="5321839" w="5321839">
                <a:moveTo>
                  <a:pt x="0" y="0"/>
                </a:moveTo>
                <a:lnTo>
                  <a:pt x="5321839" y="0"/>
                </a:lnTo>
                <a:lnTo>
                  <a:pt x="5321839" y="5321839"/>
                </a:lnTo>
                <a:lnTo>
                  <a:pt x="0" y="53218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157947" y="230678"/>
            <a:ext cx="7315200" cy="798022"/>
          </a:xfrm>
          <a:custGeom>
            <a:avLst/>
            <a:gdLst/>
            <a:ahLst/>
            <a:cxnLst/>
            <a:rect r="r" b="b" t="t" l="l"/>
            <a:pathLst>
              <a:path h="798022" w="7315200">
                <a:moveTo>
                  <a:pt x="0" y="798022"/>
                </a:moveTo>
                <a:lnTo>
                  <a:pt x="7315200" y="798022"/>
                </a:lnTo>
                <a:lnTo>
                  <a:pt x="7315200" y="0"/>
                </a:lnTo>
                <a:lnTo>
                  <a:pt x="0" y="0"/>
                </a:lnTo>
                <a:lnTo>
                  <a:pt x="0" y="79802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3812376" y="6022141"/>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11160897" y="-8569921"/>
            <a:ext cx="15299651" cy="20984559"/>
          </a:xfrm>
          <a:custGeom>
            <a:avLst/>
            <a:gdLst/>
            <a:ahLst/>
            <a:cxnLst/>
            <a:rect r="r" b="b" t="t" l="l"/>
            <a:pathLst>
              <a:path h="20984559" w="15299651">
                <a:moveTo>
                  <a:pt x="15299651" y="0"/>
                </a:moveTo>
                <a:lnTo>
                  <a:pt x="0" y="0"/>
                </a:lnTo>
                <a:lnTo>
                  <a:pt x="0" y="20984559"/>
                </a:lnTo>
                <a:lnTo>
                  <a:pt x="15299651" y="20984559"/>
                </a:lnTo>
                <a:lnTo>
                  <a:pt x="15299651" y="0"/>
                </a:lnTo>
                <a:close/>
              </a:path>
            </a:pathLst>
          </a:custGeom>
          <a:blipFill>
            <a:blip r:embed="rId6">
              <a:alphaModFix amt="62000"/>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984118" y="1001695"/>
            <a:ext cx="16319763" cy="9135246"/>
          </a:xfrm>
          <a:prstGeom prst="rect">
            <a:avLst/>
          </a:prstGeom>
        </p:spPr>
        <p:txBody>
          <a:bodyPr anchor="t" rtlCol="false" tIns="0" lIns="0" bIns="0" rIns="0">
            <a:spAutoFit/>
          </a:bodyPr>
          <a:lstStyle/>
          <a:p>
            <a:pPr algn="l">
              <a:lnSpc>
                <a:spcPts val="7119"/>
              </a:lnSpc>
            </a:pPr>
            <a:r>
              <a:rPr lang="en-US" sz="3999" b="true">
                <a:solidFill>
                  <a:srgbClr val="FFDE59"/>
                </a:solidFill>
                <a:latin typeface="Bricolage Grotesque 18 Bold"/>
                <a:ea typeface="Bricolage Grotesque 18 Bold"/>
                <a:cs typeface="Bricolage Grotesque 18 Bold"/>
                <a:sym typeface="Bricolage Grotesque 18 Bold"/>
              </a:rPr>
              <a:t>      1. Giới thiệu</a:t>
            </a:r>
          </a:p>
          <a:p>
            <a:pPr algn="l">
              <a:lnSpc>
                <a:spcPts val="7119"/>
              </a:lnSpc>
            </a:pPr>
          </a:p>
          <a:p>
            <a:pPr algn="l">
              <a:lnSpc>
                <a:spcPts val="7119"/>
              </a:lnSpc>
            </a:pPr>
            <a:r>
              <a:rPr lang="en-US" sz="3999" b="true">
                <a:solidFill>
                  <a:srgbClr val="FFDE59"/>
                </a:solidFill>
                <a:latin typeface="Bricolage Grotesque 18 Bold"/>
                <a:ea typeface="Bricolage Grotesque 18 Bold"/>
                <a:cs typeface="Bricolage Grotesque 18 Bold"/>
                <a:sym typeface="Bricolage Grotesque 18 Bold"/>
              </a:rPr>
              <a:t>            2. Mục tiêu đề tài</a:t>
            </a:r>
          </a:p>
          <a:p>
            <a:pPr algn="l">
              <a:lnSpc>
                <a:spcPts val="7119"/>
              </a:lnSpc>
            </a:pPr>
          </a:p>
          <a:p>
            <a:pPr algn="l">
              <a:lnSpc>
                <a:spcPts val="7119"/>
              </a:lnSpc>
            </a:pPr>
            <a:r>
              <a:rPr lang="en-US" sz="3999" b="true">
                <a:solidFill>
                  <a:srgbClr val="FFDE59"/>
                </a:solidFill>
                <a:latin typeface="Bricolage Grotesque 18 Bold"/>
                <a:ea typeface="Bricolage Grotesque 18 Bold"/>
                <a:cs typeface="Bricolage Grotesque 18 Bold"/>
                <a:sym typeface="Bricolage Grotesque 18 Bold"/>
              </a:rPr>
              <a:t>                     3. Phần cứng sử dụng</a:t>
            </a:r>
          </a:p>
          <a:p>
            <a:pPr algn="l">
              <a:lnSpc>
                <a:spcPts val="7119"/>
              </a:lnSpc>
            </a:pPr>
          </a:p>
          <a:p>
            <a:pPr algn="l">
              <a:lnSpc>
                <a:spcPts val="7119"/>
              </a:lnSpc>
            </a:pPr>
            <a:r>
              <a:rPr lang="en-US" sz="3999" b="true">
                <a:solidFill>
                  <a:srgbClr val="FFDE59"/>
                </a:solidFill>
                <a:latin typeface="Bricolage Grotesque 18 Bold"/>
                <a:ea typeface="Bricolage Grotesque 18 Bold"/>
                <a:cs typeface="Bricolage Grotesque 18 Bold"/>
                <a:sym typeface="Bricolage Grotesque 18 Bold"/>
              </a:rPr>
              <a:t>                              4. Sơ đồ khối hệ thống và mạch proteus</a:t>
            </a:r>
          </a:p>
          <a:p>
            <a:pPr algn="l">
              <a:lnSpc>
                <a:spcPts val="7119"/>
              </a:lnSpc>
            </a:pPr>
          </a:p>
          <a:p>
            <a:pPr algn="l">
              <a:lnSpc>
                <a:spcPts val="7119"/>
              </a:lnSpc>
            </a:pPr>
            <a:r>
              <a:rPr lang="en-US" sz="3999" b="true">
                <a:solidFill>
                  <a:srgbClr val="FFDE59"/>
                </a:solidFill>
                <a:latin typeface="Bricolage Grotesque 18 Bold"/>
                <a:ea typeface="Bricolage Grotesque 18 Bold"/>
                <a:cs typeface="Bricolage Grotesque 18 Bold"/>
                <a:sym typeface="Bricolage Grotesque 18 Bold"/>
              </a:rPr>
              <a:t>                                        5. Nguyên lý hoạt động và chức năng chính</a:t>
            </a:r>
          </a:p>
          <a:p>
            <a:pPr algn="l">
              <a:lnSpc>
                <a:spcPts val="9415"/>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0">
            <a:off x="0" y="5740414"/>
            <a:ext cx="6411852" cy="4546586"/>
          </a:xfrm>
          <a:custGeom>
            <a:avLst/>
            <a:gdLst/>
            <a:ahLst/>
            <a:cxnLst/>
            <a:rect r="r" b="b" t="t" l="l"/>
            <a:pathLst>
              <a:path h="4546586" w="6411852">
                <a:moveTo>
                  <a:pt x="0" y="4546586"/>
                </a:moveTo>
                <a:lnTo>
                  <a:pt x="6411852" y="4546586"/>
                </a:lnTo>
                <a:lnTo>
                  <a:pt x="6411852" y="0"/>
                </a:lnTo>
                <a:lnTo>
                  <a:pt x="0" y="0"/>
                </a:lnTo>
                <a:lnTo>
                  <a:pt x="0" y="454658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446430">
            <a:off x="1267182" y="7059519"/>
            <a:ext cx="2619940" cy="2589998"/>
          </a:xfrm>
          <a:custGeom>
            <a:avLst/>
            <a:gdLst/>
            <a:ahLst/>
            <a:cxnLst/>
            <a:rect r="r" b="b" t="t" l="l"/>
            <a:pathLst>
              <a:path h="2589998" w="2619940">
                <a:moveTo>
                  <a:pt x="0" y="0"/>
                </a:moveTo>
                <a:lnTo>
                  <a:pt x="2619940" y="0"/>
                </a:lnTo>
                <a:lnTo>
                  <a:pt x="2619940" y="2589998"/>
                </a:lnTo>
                <a:lnTo>
                  <a:pt x="0" y="25899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952947" y="4603428"/>
            <a:ext cx="12381234" cy="1223018"/>
          </a:xfrm>
          <a:prstGeom prst="rect">
            <a:avLst/>
          </a:prstGeom>
        </p:spPr>
        <p:txBody>
          <a:bodyPr anchor="t" rtlCol="false" tIns="0" lIns="0" bIns="0" rIns="0">
            <a:spAutoFit/>
          </a:bodyPr>
          <a:lstStyle/>
          <a:p>
            <a:pPr algn="ctr">
              <a:lnSpc>
                <a:spcPts val="9270"/>
              </a:lnSpc>
            </a:pPr>
            <a:r>
              <a:rPr lang="en-US" b="true" sz="9000" spc="1449">
                <a:solidFill>
                  <a:srgbClr val="ECC848"/>
                </a:solidFill>
                <a:latin typeface="Bricolage Grotesque 18 Bold"/>
                <a:ea typeface="Bricolage Grotesque 18 Bold"/>
                <a:cs typeface="Bricolage Grotesque 18 Bold"/>
                <a:sym typeface="Bricolage Grotesque 18 Bold"/>
              </a:rPr>
              <a:t>GIỚI THIỆU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0">
            <a:off x="0" y="5740414"/>
            <a:ext cx="6411852" cy="4546586"/>
          </a:xfrm>
          <a:custGeom>
            <a:avLst/>
            <a:gdLst/>
            <a:ahLst/>
            <a:cxnLst/>
            <a:rect r="r" b="b" t="t" l="l"/>
            <a:pathLst>
              <a:path h="4546586" w="6411852">
                <a:moveTo>
                  <a:pt x="0" y="4546586"/>
                </a:moveTo>
                <a:lnTo>
                  <a:pt x="6411852" y="4546586"/>
                </a:lnTo>
                <a:lnTo>
                  <a:pt x="6411852" y="0"/>
                </a:lnTo>
                <a:lnTo>
                  <a:pt x="0" y="0"/>
                </a:lnTo>
                <a:lnTo>
                  <a:pt x="0" y="454658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6446430">
            <a:off x="1267182" y="7059519"/>
            <a:ext cx="2619940" cy="2589998"/>
          </a:xfrm>
          <a:custGeom>
            <a:avLst/>
            <a:gdLst/>
            <a:ahLst/>
            <a:cxnLst/>
            <a:rect r="r" b="b" t="t" l="l"/>
            <a:pathLst>
              <a:path h="2589998" w="2619940">
                <a:moveTo>
                  <a:pt x="0" y="0"/>
                </a:moveTo>
                <a:lnTo>
                  <a:pt x="2619940" y="0"/>
                </a:lnTo>
                <a:lnTo>
                  <a:pt x="2619940" y="2589998"/>
                </a:lnTo>
                <a:lnTo>
                  <a:pt x="0" y="25899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577152" y="2477427"/>
            <a:ext cx="14682148" cy="1047750"/>
          </a:xfrm>
          <a:prstGeom prst="rect">
            <a:avLst/>
          </a:prstGeom>
        </p:spPr>
        <p:txBody>
          <a:bodyPr anchor="t" rtlCol="false" tIns="0" lIns="0" bIns="0" rIns="0">
            <a:spAutoFit/>
          </a:bodyPr>
          <a:lstStyle/>
          <a:p>
            <a:pPr algn="l">
              <a:lnSpc>
                <a:spcPts val="4200"/>
              </a:lnSpc>
              <a:spcBef>
                <a:spcPct val="0"/>
              </a:spcBef>
            </a:pPr>
            <a:r>
              <a:rPr lang="en-US" sz="3000">
                <a:solidFill>
                  <a:srgbClr val="ECC848"/>
                </a:solidFill>
                <a:latin typeface="Canva Sans"/>
                <a:ea typeface="Canva Sans"/>
                <a:cs typeface="Canva Sans"/>
                <a:sym typeface="Canva Sans"/>
              </a:rPr>
              <a:t>Đề tài trình bày việc thiết kế và xây dựng bộ điề</a:t>
            </a:r>
            <a:r>
              <a:rPr lang="en-US" sz="3000">
                <a:solidFill>
                  <a:srgbClr val="ECC848"/>
                </a:solidFill>
                <a:latin typeface="Canva Sans"/>
                <a:ea typeface="Canva Sans"/>
                <a:cs typeface="Canva Sans"/>
                <a:sym typeface="Canva Sans"/>
              </a:rPr>
              <a:t>u khiển máy giặt sử dụng mô hình máy trạng thái hữu hạn</a:t>
            </a:r>
          </a:p>
        </p:txBody>
      </p:sp>
      <p:sp>
        <p:nvSpPr>
          <p:cNvPr name="TextBox 9" id="9"/>
          <p:cNvSpPr txBox="true"/>
          <p:nvPr/>
        </p:nvSpPr>
        <p:spPr>
          <a:xfrm rot="0">
            <a:off x="2577152" y="4430052"/>
            <a:ext cx="14682148" cy="1581150"/>
          </a:xfrm>
          <a:prstGeom prst="rect">
            <a:avLst/>
          </a:prstGeom>
        </p:spPr>
        <p:txBody>
          <a:bodyPr anchor="t" rtlCol="false" tIns="0" lIns="0" bIns="0" rIns="0">
            <a:spAutoFit/>
          </a:bodyPr>
          <a:lstStyle/>
          <a:p>
            <a:pPr algn="just">
              <a:lnSpc>
                <a:spcPts val="4200"/>
              </a:lnSpc>
              <a:spcBef>
                <a:spcPct val="0"/>
              </a:spcBef>
            </a:pPr>
            <a:r>
              <a:rPr lang="en-US" sz="3000">
                <a:solidFill>
                  <a:srgbClr val="ECC848"/>
                </a:solidFill>
                <a:latin typeface="Canva Sans"/>
                <a:ea typeface="Canva Sans"/>
                <a:cs typeface="Canva Sans"/>
                <a:sym typeface="Canva Sans"/>
              </a:rPr>
              <a:t>Bộ điề</a:t>
            </a:r>
            <a:r>
              <a:rPr lang="en-US" sz="3000">
                <a:solidFill>
                  <a:srgbClr val="ECC848"/>
                </a:solidFill>
                <a:latin typeface="Canva Sans"/>
                <a:ea typeface="Canva Sans"/>
                <a:cs typeface="Canva Sans"/>
                <a:sym typeface="Canva Sans"/>
              </a:rPr>
              <a:t>u khiển thực hiện tuần tự các quá trình cấp nước, giặt, xả nước, vắt và thông báo hoàn thành. Thiết kế tập trung vào mạch tuần tự đồng bộ, điều khiển chuyển trạng thái và mô hình RTL dạng module.</a:t>
            </a:r>
          </a:p>
        </p:txBody>
      </p:sp>
      <p:sp>
        <p:nvSpPr>
          <p:cNvPr name="TextBox 10" id="10"/>
          <p:cNvSpPr txBox="true"/>
          <p:nvPr/>
        </p:nvSpPr>
        <p:spPr>
          <a:xfrm rot="0">
            <a:off x="2577152" y="6916077"/>
            <a:ext cx="14628167" cy="514350"/>
          </a:xfrm>
          <a:prstGeom prst="rect">
            <a:avLst/>
          </a:prstGeom>
        </p:spPr>
        <p:txBody>
          <a:bodyPr anchor="t" rtlCol="false" tIns="0" lIns="0" bIns="0" rIns="0">
            <a:spAutoFit/>
          </a:bodyPr>
          <a:lstStyle/>
          <a:p>
            <a:pPr algn="l">
              <a:lnSpc>
                <a:spcPts val="4200"/>
              </a:lnSpc>
              <a:spcBef>
                <a:spcPct val="0"/>
              </a:spcBef>
            </a:pPr>
            <a:r>
              <a:rPr lang="en-US" sz="3000">
                <a:solidFill>
                  <a:srgbClr val="ECC848"/>
                </a:solidFill>
                <a:latin typeface="Canva Sans"/>
                <a:ea typeface="Canva Sans"/>
                <a:cs typeface="Canva Sans"/>
                <a:sym typeface="Canva Sans"/>
              </a:rPr>
              <a:t>Sử dụng </a:t>
            </a:r>
            <a:r>
              <a:rPr lang="en-US" sz="3000">
                <a:solidFill>
                  <a:srgbClr val="ECC848"/>
                </a:solidFill>
                <a:latin typeface="Canva Sans"/>
                <a:ea typeface="Canva Sans"/>
                <a:cs typeface="Canva Sans"/>
                <a:sym typeface="Canva Sans"/>
              </a:rPr>
              <a:t>vi điều khiển AT89C51 kết hợp LCD, LED và động cơ.</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0">
            <a:off x="0" y="5740414"/>
            <a:ext cx="6411852" cy="4546586"/>
          </a:xfrm>
          <a:custGeom>
            <a:avLst/>
            <a:gdLst/>
            <a:ahLst/>
            <a:cxnLst/>
            <a:rect r="r" b="b" t="t" l="l"/>
            <a:pathLst>
              <a:path h="4546586" w="6411852">
                <a:moveTo>
                  <a:pt x="0" y="4546586"/>
                </a:moveTo>
                <a:lnTo>
                  <a:pt x="6411852" y="4546586"/>
                </a:lnTo>
                <a:lnTo>
                  <a:pt x="6411852" y="0"/>
                </a:lnTo>
                <a:lnTo>
                  <a:pt x="0" y="0"/>
                </a:lnTo>
                <a:lnTo>
                  <a:pt x="0" y="454658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446430">
            <a:off x="1267182" y="7059519"/>
            <a:ext cx="2619940" cy="2589998"/>
          </a:xfrm>
          <a:custGeom>
            <a:avLst/>
            <a:gdLst/>
            <a:ahLst/>
            <a:cxnLst/>
            <a:rect r="r" b="b" t="t" l="l"/>
            <a:pathLst>
              <a:path h="2589998" w="2619940">
                <a:moveTo>
                  <a:pt x="0" y="0"/>
                </a:moveTo>
                <a:lnTo>
                  <a:pt x="2619940" y="0"/>
                </a:lnTo>
                <a:lnTo>
                  <a:pt x="2619940" y="2589998"/>
                </a:lnTo>
                <a:lnTo>
                  <a:pt x="0" y="25899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952947" y="4603428"/>
            <a:ext cx="12381234" cy="1223018"/>
          </a:xfrm>
          <a:prstGeom prst="rect">
            <a:avLst/>
          </a:prstGeom>
        </p:spPr>
        <p:txBody>
          <a:bodyPr anchor="t" rtlCol="false" tIns="0" lIns="0" bIns="0" rIns="0">
            <a:spAutoFit/>
          </a:bodyPr>
          <a:lstStyle/>
          <a:p>
            <a:pPr algn="ctr">
              <a:lnSpc>
                <a:spcPts val="9270"/>
              </a:lnSpc>
            </a:pPr>
            <a:r>
              <a:rPr lang="en-US" b="true" sz="9000" spc="1449">
                <a:solidFill>
                  <a:srgbClr val="ECC848"/>
                </a:solidFill>
                <a:latin typeface="Bricolage Grotesque 18 Bold"/>
                <a:ea typeface="Bricolage Grotesque 18 Bold"/>
                <a:cs typeface="Bricolage Grotesque 18 Bold"/>
                <a:sym typeface="Bricolage Grotesque 18 Bold"/>
              </a:rPr>
              <a:t>MỤC TIÊU ĐỀ TÀI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0">
            <a:off x="0" y="5740414"/>
            <a:ext cx="6411852" cy="4546586"/>
          </a:xfrm>
          <a:custGeom>
            <a:avLst/>
            <a:gdLst/>
            <a:ahLst/>
            <a:cxnLst/>
            <a:rect r="r" b="b" t="t" l="l"/>
            <a:pathLst>
              <a:path h="4546586" w="6411852">
                <a:moveTo>
                  <a:pt x="0" y="4546586"/>
                </a:moveTo>
                <a:lnTo>
                  <a:pt x="6411852" y="4546586"/>
                </a:lnTo>
                <a:lnTo>
                  <a:pt x="6411852" y="0"/>
                </a:lnTo>
                <a:lnTo>
                  <a:pt x="0" y="0"/>
                </a:lnTo>
                <a:lnTo>
                  <a:pt x="0" y="454658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6446430">
            <a:off x="1267182" y="7059519"/>
            <a:ext cx="2619940" cy="2589998"/>
          </a:xfrm>
          <a:custGeom>
            <a:avLst/>
            <a:gdLst/>
            <a:ahLst/>
            <a:cxnLst/>
            <a:rect r="r" b="b" t="t" l="l"/>
            <a:pathLst>
              <a:path h="2589998" w="2619940">
                <a:moveTo>
                  <a:pt x="0" y="0"/>
                </a:moveTo>
                <a:lnTo>
                  <a:pt x="2619940" y="0"/>
                </a:lnTo>
                <a:lnTo>
                  <a:pt x="2619940" y="2589998"/>
                </a:lnTo>
                <a:lnTo>
                  <a:pt x="0" y="25899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577152" y="2201202"/>
            <a:ext cx="14682148" cy="1581150"/>
          </a:xfrm>
          <a:prstGeom prst="rect">
            <a:avLst/>
          </a:prstGeom>
        </p:spPr>
        <p:txBody>
          <a:bodyPr anchor="t" rtlCol="false" tIns="0" lIns="0" bIns="0" rIns="0">
            <a:spAutoFit/>
          </a:bodyPr>
          <a:lstStyle/>
          <a:p>
            <a:pPr algn="just">
              <a:lnSpc>
                <a:spcPts val="4200"/>
              </a:lnSpc>
              <a:spcBef>
                <a:spcPct val="0"/>
              </a:spcBef>
            </a:pPr>
            <a:r>
              <a:rPr lang="en-US" sz="3000">
                <a:solidFill>
                  <a:srgbClr val="ECC848"/>
                </a:solidFill>
                <a:latin typeface="Canva Sans"/>
                <a:ea typeface="Canva Sans"/>
                <a:cs typeface="Canva Sans"/>
                <a:sym typeface="Canva Sans"/>
              </a:rPr>
              <a:t>Thứ nhất, xây dựng mô hình bộ điề</a:t>
            </a:r>
            <a:r>
              <a:rPr lang="en-US" sz="3000">
                <a:solidFill>
                  <a:srgbClr val="ECC848"/>
                </a:solidFill>
                <a:latin typeface="Canva Sans"/>
                <a:ea typeface="Canva Sans"/>
                <a:cs typeface="Canva Sans"/>
                <a:sym typeface="Canva Sans"/>
              </a:rPr>
              <a:t>u khiển máy giặt dựa trên phương pháp thiết kế FSM để mô tả trình tự hoạt động của hệ thống thông qua các trạng thái và điều kiện chuyển trạng thái.</a:t>
            </a:r>
          </a:p>
        </p:txBody>
      </p:sp>
      <p:sp>
        <p:nvSpPr>
          <p:cNvPr name="TextBox 9" id="9"/>
          <p:cNvSpPr txBox="true"/>
          <p:nvPr/>
        </p:nvSpPr>
        <p:spPr>
          <a:xfrm rot="0">
            <a:off x="2577152" y="4855138"/>
            <a:ext cx="14682148" cy="1047750"/>
          </a:xfrm>
          <a:prstGeom prst="rect">
            <a:avLst/>
          </a:prstGeom>
        </p:spPr>
        <p:txBody>
          <a:bodyPr anchor="t" rtlCol="false" tIns="0" lIns="0" bIns="0" rIns="0">
            <a:spAutoFit/>
          </a:bodyPr>
          <a:lstStyle/>
          <a:p>
            <a:pPr algn="just">
              <a:lnSpc>
                <a:spcPts val="4200"/>
              </a:lnSpc>
              <a:spcBef>
                <a:spcPct val="0"/>
              </a:spcBef>
            </a:pPr>
            <a:r>
              <a:rPr lang="en-US" sz="3000">
                <a:solidFill>
                  <a:srgbClr val="ECC848"/>
                </a:solidFill>
                <a:latin typeface="Canva Sans"/>
                <a:ea typeface="Canva Sans"/>
                <a:cs typeface="Canva Sans"/>
                <a:sym typeface="Canva Sans"/>
              </a:rPr>
              <a:t>Sử dụng vi điề</a:t>
            </a:r>
            <a:r>
              <a:rPr lang="en-US" sz="3000">
                <a:solidFill>
                  <a:srgbClr val="ECC848"/>
                </a:solidFill>
                <a:latin typeface="Canva Sans"/>
                <a:ea typeface="Canva Sans"/>
                <a:cs typeface="Canva Sans"/>
                <a:sym typeface="Canva Sans"/>
              </a:rPr>
              <a:t>u khiển AT89C51 để thực hiện chức năng điều khiển các chế độ hoạt động của máy giặt như cấp nước, giặt, xả và vắt.</a:t>
            </a:r>
          </a:p>
        </p:txBody>
      </p:sp>
      <p:sp>
        <p:nvSpPr>
          <p:cNvPr name="TextBox 10" id="10"/>
          <p:cNvSpPr txBox="true"/>
          <p:nvPr/>
        </p:nvSpPr>
        <p:spPr>
          <a:xfrm rot="0">
            <a:off x="2577152" y="6975674"/>
            <a:ext cx="14628167" cy="514350"/>
          </a:xfrm>
          <a:prstGeom prst="rect">
            <a:avLst/>
          </a:prstGeom>
        </p:spPr>
        <p:txBody>
          <a:bodyPr anchor="t" rtlCol="false" tIns="0" lIns="0" bIns="0" rIns="0">
            <a:spAutoFit/>
          </a:bodyPr>
          <a:lstStyle/>
          <a:p>
            <a:pPr algn="l">
              <a:lnSpc>
                <a:spcPts val="4200"/>
              </a:lnSpc>
              <a:spcBef>
                <a:spcPct val="0"/>
              </a:spcBef>
            </a:pPr>
            <a:r>
              <a:rPr lang="en-US" sz="3000">
                <a:solidFill>
                  <a:srgbClr val="ECC848"/>
                </a:solidFill>
                <a:latin typeface="Canva Sans"/>
                <a:ea typeface="Canva Sans"/>
                <a:cs typeface="Canva Sans"/>
                <a:sym typeface="Canva Sans"/>
              </a:rPr>
              <a:t>T</a:t>
            </a:r>
            <a:r>
              <a:rPr lang="en-US" sz="3000">
                <a:solidFill>
                  <a:srgbClr val="ECC848"/>
                </a:solidFill>
                <a:latin typeface="Canva Sans"/>
                <a:ea typeface="Canva Sans"/>
                <a:cs typeface="Canva Sans"/>
                <a:sym typeface="Canva Sans"/>
              </a:rPr>
              <a:t>hiết kế RTL cho toàn bộ hệ thống điều khiển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0">
            <a:off x="0" y="5740414"/>
            <a:ext cx="6411852" cy="4546586"/>
          </a:xfrm>
          <a:custGeom>
            <a:avLst/>
            <a:gdLst/>
            <a:ahLst/>
            <a:cxnLst/>
            <a:rect r="r" b="b" t="t" l="l"/>
            <a:pathLst>
              <a:path h="4546586" w="6411852">
                <a:moveTo>
                  <a:pt x="0" y="4546586"/>
                </a:moveTo>
                <a:lnTo>
                  <a:pt x="6411852" y="4546586"/>
                </a:lnTo>
                <a:lnTo>
                  <a:pt x="6411852" y="0"/>
                </a:lnTo>
                <a:lnTo>
                  <a:pt x="0" y="0"/>
                </a:lnTo>
                <a:lnTo>
                  <a:pt x="0" y="454658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6446430">
            <a:off x="1267182" y="7059519"/>
            <a:ext cx="2619940" cy="2589998"/>
          </a:xfrm>
          <a:custGeom>
            <a:avLst/>
            <a:gdLst/>
            <a:ahLst/>
            <a:cxnLst/>
            <a:rect r="r" b="b" t="t" l="l"/>
            <a:pathLst>
              <a:path h="2589998" w="2619940">
                <a:moveTo>
                  <a:pt x="0" y="0"/>
                </a:moveTo>
                <a:lnTo>
                  <a:pt x="2619940" y="0"/>
                </a:lnTo>
                <a:lnTo>
                  <a:pt x="2619940" y="2589998"/>
                </a:lnTo>
                <a:lnTo>
                  <a:pt x="0" y="25899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363937" y="795962"/>
            <a:ext cx="13559255" cy="902542"/>
          </a:xfrm>
          <a:prstGeom prst="rect">
            <a:avLst/>
          </a:prstGeom>
        </p:spPr>
        <p:txBody>
          <a:bodyPr anchor="t" rtlCol="false" tIns="0" lIns="0" bIns="0" rIns="0">
            <a:spAutoFit/>
          </a:bodyPr>
          <a:lstStyle/>
          <a:p>
            <a:pPr algn="ctr">
              <a:lnSpc>
                <a:spcPts val="7478"/>
              </a:lnSpc>
              <a:spcBef>
                <a:spcPct val="0"/>
              </a:spcBef>
            </a:pPr>
            <a:r>
              <a:rPr lang="en-US" sz="5341">
                <a:solidFill>
                  <a:srgbClr val="ECC848"/>
                </a:solidFill>
                <a:latin typeface="Canva Sans"/>
                <a:ea typeface="Canva Sans"/>
                <a:cs typeface="Canva Sans"/>
                <a:sym typeface="Canva Sans"/>
              </a:rPr>
              <a:t>Mục tiêu</a:t>
            </a:r>
          </a:p>
        </p:txBody>
      </p:sp>
      <p:sp>
        <p:nvSpPr>
          <p:cNvPr name="TextBox 9" id="9"/>
          <p:cNvSpPr txBox="true"/>
          <p:nvPr/>
        </p:nvSpPr>
        <p:spPr>
          <a:xfrm rot="0">
            <a:off x="2577152" y="2526878"/>
            <a:ext cx="13019831" cy="1047750"/>
          </a:xfrm>
          <a:prstGeom prst="rect">
            <a:avLst/>
          </a:prstGeom>
        </p:spPr>
        <p:txBody>
          <a:bodyPr anchor="t" rtlCol="false" tIns="0" lIns="0" bIns="0" rIns="0">
            <a:spAutoFit/>
          </a:bodyPr>
          <a:lstStyle/>
          <a:p>
            <a:pPr algn="l">
              <a:lnSpc>
                <a:spcPts val="4200"/>
              </a:lnSpc>
              <a:spcBef>
                <a:spcPct val="0"/>
              </a:spcBef>
            </a:pPr>
            <a:r>
              <a:rPr lang="en-US" sz="3000">
                <a:solidFill>
                  <a:srgbClr val="ECC848"/>
                </a:solidFill>
                <a:latin typeface="Canva Sans"/>
                <a:ea typeface="Canva Sans"/>
                <a:cs typeface="Canva Sans"/>
                <a:sym typeface="Canva Sans"/>
              </a:rPr>
              <a:t>Kiểm chứng h</a:t>
            </a:r>
            <a:r>
              <a:rPr lang="en-US" sz="3000">
                <a:solidFill>
                  <a:srgbClr val="ECC848"/>
                </a:solidFill>
                <a:latin typeface="Canva Sans"/>
                <a:ea typeface="Canva Sans"/>
                <a:cs typeface="Canva Sans"/>
                <a:sym typeface="Canva Sans"/>
              </a:rPr>
              <a:t>oạt động của hệ thống thông qua testbench và mô phỏng bằng phần mềm</a:t>
            </a:r>
          </a:p>
        </p:txBody>
      </p:sp>
      <p:sp>
        <p:nvSpPr>
          <p:cNvPr name="TextBox 10" id="10"/>
          <p:cNvSpPr txBox="true"/>
          <p:nvPr/>
        </p:nvSpPr>
        <p:spPr>
          <a:xfrm rot="0">
            <a:off x="2577152" y="5683264"/>
            <a:ext cx="15710848" cy="1047750"/>
          </a:xfrm>
          <a:prstGeom prst="rect">
            <a:avLst/>
          </a:prstGeom>
        </p:spPr>
        <p:txBody>
          <a:bodyPr anchor="t" rtlCol="false" tIns="0" lIns="0" bIns="0" rIns="0">
            <a:spAutoFit/>
          </a:bodyPr>
          <a:lstStyle/>
          <a:p>
            <a:pPr algn="l">
              <a:lnSpc>
                <a:spcPts val="4200"/>
              </a:lnSpc>
              <a:spcBef>
                <a:spcPct val="0"/>
              </a:spcBef>
            </a:pPr>
            <a:r>
              <a:rPr lang="en-US" sz="3000">
                <a:solidFill>
                  <a:srgbClr val="ECC848"/>
                </a:solidFill>
                <a:latin typeface="Canva Sans"/>
                <a:ea typeface="Canva Sans"/>
                <a:cs typeface="Canva Sans"/>
                <a:sym typeface="Canva Sans"/>
              </a:rPr>
              <a:t>T</a:t>
            </a:r>
            <a:r>
              <a:rPr lang="en-US" sz="3000">
                <a:solidFill>
                  <a:srgbClr val="ECC848"/>
                </a:solidFill>
                <a:latin typeface="Canva Sans"/>
                <a:ea typeface="Canva Sans"/>
                <a:cs typeface="Canva Sans"/>
                <a:sym typeface="Canva Sans"/>
              </a:rPr>
              <a:t>hực hiện tổng hợp thiết kế nhằm đánh giá khả năng hiện thực phần cứng của hệ thống.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697714" y="152400"/>
            <a:ext cx="9590286" cy="10134600"/>
          </a:xfrm>
          <a:custGeom>
            <a:avLst/>
            <a:gdLst/>
            <a:ahLst/>
            <a:cxnLst/>
            <a:rect r="r" b="b" t="t" l="l"/>
            <a:pathLst>
              <a:path h="10134600" w="9590286">
                <a:moveTo>
                  <a:pt x="0" y="0"/>
                </a:moveTo>
                <a:lnTo>
                  <a:pt x="9590286" y="0"/>
                </a:lnTo>
                <a:lnTo>
                  <a:pt x="9590286" y="10134600"/>
                </a:lnTo>
                <a:lnTo>
                  <a:pt x="0" y="10134600"/>
                </a:lnTo>
                <a:lnTo>
                  <a:pt x="0" y="0"/>
                </a:lnTo>
                <a:close/>
              </a:path>
            </a:pathLst>
          </a:custGeom>
          <a:blipFill>
            <a:blip r:embed="rId4"/>
            <a:stretch>
              <a:fillRect l="0" t="0" r="0" b="0"/>
            </a:stretch>
          </a:blipFill>
        </p:spPr>
      </p:sp>
      <p:sp>
        <p:nvSpPr>
          <p:cNvPr name="TextBox 7" id="7"/>
          <p:cNvSpPr txBox="true"/>
          <p:nvPr/>
        </p:nvSpPr>
        <p:spPr>
          <a:xfrm rot="0">
            <a:off x="2072871" y="4311265"/>
            <a:ext cx="4851687" cy="1327150"/>
          </a:xfrm>
          <a:prstGeom prst="rect">
            <a:avLst/>
          </a:prstGeom>
        </p:spPr>
        <p:txBody>
          <a:bodyPr anchor="t" rtlCol="false" tIns="0" lIns="0" bIns="0" rIns="0">
            <a:spAutoFit/>
          </a:bodyPr>
          <a:lstStyle/>
          <a:p>
            <a:pPr algn="ctr">
              <a:lnSpc>
                <a:spcPts val="5150"/>
              </a:lnSpc>
            </a:pPr>
            <a:r>
              <a:rPr lang="en-US" b="true" sz="5000" spc="805">
                <a:solidFill>
                  <a:srgbClr val="ECC848"/>
                </a:solidFill>
                <a:latin typeface="Bricolage Grotesque 18 Bold"/>
                <a:ea typeface="Bricolage Grotesque 18 Bold"/>
                <a:cs typeface="Bricolage Grotesque 18 Bold"/>
                <a:sym typeface="Bricolage Grotesque 18 Bold"/>
              </a:rPr>
              <a:t>MÁY TRẠNG THÁI CHÍNH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0">
            <a:off x="0" y="5740414"/>
            <a:ext cx="6411852" cy="4546586"/>
          </a:xfrm>
          <a:custGeom>
            <a:avLst/>
            <a:gdLst/>
            <a:ahLst/>
            <a:cxnLst/>
            <a:rect r="r" b="b" t="t" l="l"/>
            <a:pathLst>
              <a:path h="4546586" w="6411852">
                <a:moveTo>
                  <a:pt x="0" y="4546586"/>
                </a:moveTo>
                <a:lnTo>
                  <a:pt x="6411852" y="4546586"/>
                </a:lnTo>
                <a:lnTo>
                  <a:pt x="6411852" y="0"/>
                </a:lnTo>
                <a:lnTo>
                  <a:pt x="0" y="0"/>
                </a:lnTo>
                <a:lnTo>
                  <a:pt x="0" y="454658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446430">
            <a:off x="1267182" y="7059519"/>
            <a:ext cx="2619940" cy="2589998"/>
          </a:xfrm>
          <a:custGeom>
            <a:avLst/>
            <a:gdLst/>
            <a:ahLst/>
            <a:cxnLst/>
            <a:rect r="r" b="b" t="t" l="l"/>
            <a:pathLst>
              <a:path h="2589998" w="2619940">
                <a:moveTo>
                  <a:pt x="0" y="0"/>
                </a:moveTo>
                <a:lnTo>
                  <a:pt x="2619940" y="0"/>
                </a:lnTo>
                <a:lnTo>
                  <a:pt x="2619940" y="2589998"/>
                </a:lnTo>
                <a:lnTo>
                  <a:pt x="0" y="25899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952947" y="4258310"/>
            <a:ext cx="12381234" cy="960755"/>
          </a:xfrm>
          <a:prstGeom prst="rect">
            <a:avLst/>
          </a:prstGeom>
        </p:spPr>
        <p:txBody>
          <a:bodyPr anchor="t" rtlCol="false" tIns="0" lIns="0" bIns="0" rIns="0">
            <a:spAutoFit/>
          </a:bodyPr>
          <a:lstStyle/>
          <a:p>
            <a:pPr algn="ctr">
              <a:lnSpc>
                <a:spcPts val="7209"/>
              </a:lnSpc>
            </a:pPr>
            <a:r>
              <a:rPr lang="en-US" b="true" sz="6999" spc="1126">
                <a:solidFill>
                  <a:srgbClr val="ECC848"/>
                </a:solidFill>
                <a:latin typeface="Bricolage Grotesque 18 Bold"/>
                <a:ea typeface="Bricolage Grotesque 18 Bold"/>
                <a:cs typeface="Bricolage Grotesque 18 Bold"/>
                <a:sym typeface="Bricolage Grotesque 18 Bold"/>
              </a:rPr>
              <a:t>PHẦN CỨNG SỬ DỤNG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0"/>
            <a:chOff x="0" y="0"/>
            <a:chExt cx="4816593" cy="2689264"/>
          </a:xfrm>
        </p:grpSpPr>
        <p:sp>
          <p:nvSpPr>
            <p:cNvPr name="Freeform 3" id="3"/>
            <p:cNvSpPr/>
            <p:nvPr/>
          </p:nvSpPr>
          <p:spPr>
            <a:xfrm flipH="false" flipV="false" rot="0">
              <a:off x="0" y="0"/>
              <a:ext cx="4816592" cy="2689264"/>
            </a:xfrm>
            <a:custGeom>
              <a:avLst/>
              <a:gdLst/>
              <a:ahLst/>
              <a:cxnLst/>
              <a:rect r="r" b="b" t="t" l="l"/>
              <a:pathLst>
                <a:path h="2689264" w="4816592">
                  <a:moveTo>
                    <a:pt x="0" y="0"/>
                  </a:moveTo>
                  <a:lnTo>
                    <a:pt x="4816592" y="0"/>
                  </a:lnTo>
                  <a:lnTo>
                    <a:pt x="4816592" y="2689264"/>
                  </a:lnTo>
                  <a:lnTo>
                    <a:pt x="0" y="2689264"/>
                  </a:lnTo>
                  <a:close/>
                </a:path>
              </a:pathLst>
            </a:custGeom>
            <a:solidFill>
              <a:srgbClr val="0A232F"/>
            </a:solidFill>
          </p:spPr>
        </p:sp>
        <p:sp>
          <p:nvSpPr>
            <p:cNvPr name="TextBox 4" id="4"/>
            <p:cNvSpPr txBox="true"/>
            <p:nvPr/>
          </p:nvSpPr>
          <p:spPr>
            <a:xfrm>
              <a:off x="0" y="-38100"/>
              <a:ext cx="4816593" cy="272736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570705" y="3790753"/>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2">
              <a:alphaModFix amt="41000"/>
            </a:blip>
            <a:stretch>
              <a:fillRect l="0" t="0" r="0" b="0"/>
            </a:stretch>
          </a:blipFill>
        </p:spPr>
      </p:sp>
      <p:sp>
        <p:nvSpPr>
          <p:cNvPr name="Freeform 6" id="6"/>
          <p:cNvSpPr/>
          <p:nvPr/>
        </p:nvSpPr>
        <p:spPr>
          <a:xfrm flipH="false" flipV="false" rot="0">
            <a:off x="16067761" y="470090"/>
            <a:ext cx="1929234" cy="1929234"/>
          </a:xfrm>
          <a:custGeom>
            <a:avLst/>
            <a:gdLst/>
            <a:ahLst/>
            <a:cxnLst/>
            <a:rect r="r" b="b" t="t" l="l"/>
            <a:pathLst>
              <a:path h="1929234" w="1929234">
                <a:moveTo>
                  <a:pt x="0" y="0"/>
                </a:moveTo>
                <a:lnTo>
                  <a:pt x="1929234" y="0"/>
                </a:lnTo>
                <a:lnTo>
                  <a:pt x="1929234" y="1929235"/>
                </a:lnTo>
                <a:lnTo>
                  <a:pt x="0" y="1929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79993" y="9094179"/>
            <a:ext cx="7315200" cy="798022"/>
          </a:xfrm>
          <a:custGeom>
            <a:avLst/>
            <a:gdLst/>
            <a:ahLst/>
            <a:cxnLst/>
            <a:rect r="r" b="b" t="t" l="l"/>
            <a:pathLst>
              <a:path h="798022" w="7315200">
                <a:moveTo>
                  <a:pt x="0" y="0"/>
                </a:moveTo>
                <a:lnTo>
                  <a:pt x="7315200" y="0"/>
                </a:lnTo>
                <a:lnTo>
                  <a:pt x="7315200" y="798022"/>
                </a:lnTo>
                <a:lnTo>
                  <a:pt x="0" y="7980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8" id="8"/>
          <p:cNvGraphicFramePr>
            <a:graphicFrameLocks noGrp="true"/>
          </p:cNvGraphicFramePr>
          <p:nvPr/>
        </p:nvGraphicFramePr>
        <p:xfrm>
          <a:off x="3913582" y="709979"/>
          <a:ext cx="10460837" cy="8191500"/>
        </p:xfrm>
        <a:graphic>
          <a:graphicData uri="http://schemas.openxmlformats.org/drawingml/2006/table">
            <a:tbl>
              <a:tblPr/>
              <a:tblGrid>
                <a:gridCol w="3651851"/>
                <a:gridCol w="6808986"/>
              </a:tblGrid>
              <a:tr h="1023938">
                <a:tc>
                  <a:txBody>
                    <a:bodyPr anchor="t" rtlCol="false"/>
                    <a:lstStyle/>
                    <a:p>
                      <a:pPr algn="ctr">
                        <a:lnSpc>
                          <a:spcPts val="2659"/>
                        </a:lnSpc>
                        <a:defRPr/>
                      </a:pPr>
                      <a:r>
                        <a:rPr lang="en-US" b="true" sz="1899">
                          <a:solidFill>
                            <a:srgbClr val="ECC848"/>
                          </a:solidFill>
                          <a:latin typeface="Canva Sans Bold"/>
                          <a:ea typeface="Canva Sans Bold"/>
                          <a:cs typeface="Canva Sans Bold"/>
                          <a:sym typeface="Canva Sans Bold"/>
                        </a:rPr>
                        <a:t>Thiết bị</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b="true" sz="1899">
                          <a:solidFill>
                            <a:srgbClr val="ECC848"/>
                          </a:solidFill>
                          <a:latin typeface="Canva Sans Bold"/>
                          <a:ea typeface="Canva Sans Bold"/>
                          <a:cs typeface="Canva Sans Bold"/>
                          <a:sym typeface="Canva Sans Bold"/>
                        </a:rPr>
                        <a:t>Chức năng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3938">
                <a:tc>
                  <a:txBody>
                    <a:bodyPr anchor="t" rtlCol="false"/>
                    <a:lstStyle/>
                    <a:p>
                      <a:pPr algn="ctr">
                        <a:lnSpc>
                          <a:spcPts val="2659"/>
                        </a:lnSpc>
                        <a:defRPr/>
                      </a:pPr>
                      <a:r>
                        <a:rPr lang="en-US" sz="1899">
                          <a:solidFill>
                            <a:srgbClr val="ECC848"/>
                          </a:solidFill>
                          <a:latin typeface="Canva Sans"/>
                          <a:ea typeface="Canva Sans"/>
                          <a:cs typeface="Canva Sans"/>
                          <a:sym typeface="Canva Sans"/>
                        </a:rPr>
                        <a:t>AT89C51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ECC848"/>
                          </a:solidFill>
                          <a:latin typeface="Canva Sans"/>
                          <a:ea typeface="Canva Sans"/>
                          <a:cs typeface="Canva Sans"/>
                          <a:sym typeface="Canva Sans"/>
                        </a:rPr>
                        <a:t>Vi điều khiển chính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3938">
                <a:tc>
                  <a:txBody>
                    <a:bodyPr anchor="t" rtlCol="false"/>
                    <a:lstStyle/>
                    <a:p>
                      <a:pPr algn="ctr">
                        <a:lnSpc>
                          <a:spcPts val="2659"/>
                        </a:lnSpc>
                        <a:defRPr/>
                      </a:pPr>
                      <a:r>
                        <a:rPr lang="en-US" sz="1899">
                          <a:solidFill>
                            <a:srgbClr val="ECC848"/>
                          </a:solidFill>
                          <a:latin typeface="Canva Sans"/>
                          <a:ea typeface="Canva Sans"/>
                          <a:cs typeface="Canva Sans"/>
                          <a:sym typeface="Canva Sans"/>
                        </a:rPr>
                        <a:t>LCD 16x2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ECC848"/>
                          </a:solidFill>
                          <a:latin typeface="Canva Sans"/>
                          <a:ea typeface="Canva Sans"/>
                          <a:cs typeface="Canva Sans"/>
                          <a:sym typeface="Canva Sans"/>
                        </a:rPr>
                        <a:t>Màn hình hiển thị trạng thái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3938">
                <a:tc>
                  <a:txBody>
                    <a:bodyPr anchor="t" rtlCol="false"/>
                    <a:lstStyle/>
                    <a:p>
                      <a:pPr algn="ctr">
                        <a:lnSpc>
                          <a:spcPts val="2659"/>
                        </a:lnSpc>
                        <a:defRPr/>
                      </a:pPr>
                      <a:r>
                        <a:rPr lang="en-US" sz="1899">
                          <a:solidFill>
                            <a:srgbClr val="ECC848"/>
                          </a:solidFill>
                          <a:latin typeface="Canva Sans"/>
                          <a:ea typeface="Canva Sans"/>
                          <a:cs typeface="Canva Sans"/>
                          <a:sym typeface="Canva Sans"/>
                        </a:rPr>
                        <a:t>Push button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ECC848"/>
                          </a:solidFill>
                          <a:latin typeface="Canva Sans"/>
                          <a:ea typeface="Canva Sans"/>
                          <a:cs typeface="Canva Sans"/>
                          <a:sym typeface="Canva Sans"/>
                        </a:rPr>
                        <a:t>Nút nhấn điều khiển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3938">
                <a:tc>
                  <a:txBody>
                    <a:bodyPr anchor="t" rtlCol="false"/>
                    <a:lstStyle/>
                    <a:p>
                      <a:pPr algn="ctr">
                        <a:lnSpc>
                          <a:spcPts val="2659"/>
                        </a:lnSpc>
                        <a:defRPr/>
                      </a:pPr>
                      <a:r>
                        <a:rPr lang="en-US" sz="1899">
                          <a:solidFill>
                            <a:srgbClr val="ECC848"/>
                          </a:solidFill>
                          <a:latin typeface="Canva Sans"/>
                          <a:ea typeface="Canva Sans"/>
                          <a:cs typeface="Canva Sans"/>
                          <a:sym typeface="Canva Sans"/>
                        </a:rPr>
                        <a:t>LED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ECC848"/>
                          </a:solidFill>
                          <a:latin typeface="Canva Sans"/>
                          <a:ea typeface="Canva Sans"/>
                          <a:cs typeface="Canva Sans"/>
                          <a:sym typeface="Canva Sans"/>
                        </a:rPr>
                        <a:t>Đèn báo trạng thái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3938">
                <a:tc>
                  <a:txBody>
                    <a:bodyPr anchor="t" rtlCol="false"/>
                    <a:lstStyle/>
                    <a:p>
                      <a:pPr algn="ctr">
                        <a:lnSpc>
                          <a:spcPts val="2659"/>
                        </a:lnSpc>
                        <a:defRPr/>
                      </a:pPr>
                      <a:r>
                        <a:rPr lang="en-US" sz="1899">
                          <a:solidFill>
                            <a:srgbClr val="ECC848"/>
                          </a:solidFill>
                          <a:latin typeface="Canva Sans"/>
                          <a:ea typeface="Canva Sans"/>
                          <a:cs typeface="Canva Sans"/>
                          <a:sym typeface="Canva Sans"/>
                        </a:rPr>
                        <a:t>Motor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ECC848"/>
                          </a:solidFill>
                          <a:latin typeface="Canva Sans"/>
                          <a:ea typeface="Canva Sans"/>
                          <a:cs typeface="Canva Sans"/>
                          <a:sym typeface="Canva Sans"/>
                        </a:rPr>
                        <a:t>Giả lập lồng giặt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3938">
                <a:tc>
                  <a:txBody>
                    <a:bodyPr anchor="t" rtlCol="false"/>
                    <a:lstStyle/>
                    <a:p>
                      <a:pPr algn="ctr">
                        <a:lnSpc>
                          <a:spcPts val="2659"/>
                        </a:lnSpc>
                        <a:defRPr/>
                      </a:pPr>
                      <a:r>
                        <a:rPr lang="en-US" sz="1899">
                          <a:solidFill>
                            <a:srgbClr val="ECC848"/>
                          </a:solidFill>
                          <a:latin typeface="Canva Sans"/>
                          <a:ea typeface="Canva Sans"/>
                          <a:cs typeface="Canva Sans"/>
                          <a:sym typeface="Canva Sans"/>
                        </a:rPr>
                        <a:t>Buzzer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ECC848"/>
                          </a:solidFill>
                          <a:latin typeface="Canva Sans"/>
                          <a:ea typeface="Canva Sans"/>
                          <a:cs typeface="Canva Sans"/>
                          <a:sym typeface="Canva Sans"/>
                        </a:rPr>
                        <a:t>Thông báo hoàn thành</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3938">
                <a:tc>
                  <a:txBody>
                    <a:bodyPr anchor="t" rtlCol="false"/>
                    <a:lstStyle/>
                    <a:p>
                      <a:pPr algn="ctr">
                        <a:lnSpc>
                          <a:spcPts val="2659"/>
                        </a:lnSpc>
                        <a:defRPr/>
                      </a:pPr>
                      <a:r>
                        <a:rPr lang="en-US" sz="1899">
                          <a:solidFill>
                            <a:srgbClr val="ECC848"/>
                          </a:solidFill>
                          <a:latin typeface="Canva Sans"/>
                          <a:ea typeface="Canva Sans"/>
                          <a:cs typeface="Canva Sans"/>
                          <a:sym typeface="Canva Sans"/>
                        </a:rPr>
                        <a:t>Relay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2659"/>
                        </a:lnSpc>
                        <a:defRPr/>
                      </a:pPr>
                      <a:r>
                        <a:rPr lang="en-US" sz="1899">
                          <a:solidFill>
                            <a:srgbClr val="ECC848"/>
                          </a:solidFill>
                          <a:latin typeface="Canva Sans"/>
                          <a:ea typeface="Canva Sans"/>
                          <a:cs typeface="Canva Sans"/>
                          <a:sym typeface="Canva Sans"/>
                        </a:rPr>
                        <a:t>Giả lập van nước</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994208" y="1785131"/>
            <a:ext cx="10451984" cy="7473169"/>
          </a:xfrm>
          <a:custGeom>
            <a:avLst/>
            <a:gdLst/>
            <a:ahLst/>
            <a:cxnLst/>
            <a:rect r="r" b="b" t="t" l="l"/>
            <a:pathLst>
              <a:path h="7473169" w="10451984">
                <a:moveTo>
                  <a:pt x="0" y="0"/>
                </a:moveTo>
                <a:lnTo>
                  <a:pt x="10451984" y="0"/>
                </a:lnTo>
                <a:lnTo>
                  <a:pt x="10451984" y="7473169"/>
                </a:lnTo>
                <a:lnTo>
                  <a:pt x="0" y="7473169"/>
                </a:lnTo>
                <a:lnTo>
                  <a:pt x="0" y="0"/>
                </a:lnTo>
                <a:close/>
              </a:path>
            </a:pathLst>
          </a:custGeom>
          <a:blipFill>
            <a:blip r:embed="rId4"/>
            <a:stretch>
              <a:fillRect l="0" t="0" r="0" b="0"/>
            </a:stretch>
          </a:blipFill>
        </p:spPr>
      </p:sp>
      <p:sp>
        <p:nvSpPr>
          <p:cNvPr name="TextBox 7" id="7"/>
          <p:cNvSpPr txBox="true"/>
          <p:nvPr/>
        </p:nvSpPr>
        <p:spPr>
          <a:xfrm rot="0">
            <a:off x="1028700" y="742685"/>
            <a:ext cx="12381234" cy="960755"/>
          </a:xfrm>
          <a:prstGeom prst="rect">
            <a:avLst/>
          </a:prstGeom>
        </p:spPr>
        <p:txBody>
          <a:bodyPr anchor="t" rtlCol="false" tIns="0" lIns="0" bIns="0" rIns="0">
            <a:spAutoFit/>
          </a:bodyPr>
          <a:lstStyle/>
          <a:p>
            <a:pPr algn="ctr">
              <a:lnSpc>
                <a:spcPts val="7209"/>
              </a:lnSpc>
            </a:pPr>
            <a:r>
              <a:rPr lang="en-US" b="true" sz="6999" spc="1126">
                <a:solidFill>
                  <a:srgbClr val="ECC848"/>
                </a:solidFill>
                <a:latin typeface="Bricolage Grotesque 18 Bold"/>
                <a:ea typeface="Bricolage Grotesque 18 Bold"/>
                <a:cs typeface="Bricolage Grotesque 18 Bold"/>
                <a:sym typeface="Bricolage Grotesque 18 Bold"/>
              </a:rPr>
              <a:t>SƠ ĐỒ KHỐI HỆ THỐNG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035904" y="1701188"/>
            <a:ext cx="12368592" cy="8585812"/>
          </a:xfrm>
          <a:custGeom>
            <a:avLst/>
            <a:gdLst/>
            <a:ahLst/>
            <a:cxnLst/>
            <a:rect r="r" b="b" t="t" l="l"/>
            <a:pathLst>
              <a:path h="8585812" w="12368592">
                <a:moveTo>
                  <a:pt x="0" y="0"/>
                </a:moveTo>
                <a:lnTo>
                  <a:pt x="12368592" y="0"/>
                </a:lnTo>
                <a:lnTo>
                  <a:pt x="12368592" y="8585812"/>
                </a:lnTo>
                <a:lnTo>
                  <a:pt x="0" y="8585812"/>
                </a:lnTo>
                <a:lnTo>
                  <a:pt x="0" y="0"/>
                </a:lnTo>
                <a:close/>
              </a:path>
            </a:pathLst>
          </a:custGeom>
          <a:blipFill>
            <a:blip r:embed="rId4"/>
            <a:stretch>
              <a:fillRect l="0" t="0" r="0" b="0"/>
            </a:stretch>
          </a:blipFill>
        </p:spPr>
      </p:sp>
      <p:sp>
        <p:nvSpPr>
          <p:cNvPr name="TextBox 7" id="7"/>
          <p:cNvSpPr txBox="true"/>
          <p:nvPr/>
        </p:nvSpPr>
        <p:spPr>
          <a:xfrm rot="0">
            <a:off x="862845" y="939625"/>
            <a:ext cx="14588307" cy="1368493"/>
          </a:xfrm>
          <a:prstGeom prst="rect">
            <a:avLst/>
          </a:prstGeom>
        </p:spPr>
        <p:txBody>
          <a:bodyPr anchor="t" rtlCol="false" tIns="0" lIns="0" bIns="0" rIns="0">
            <a:spAutoFit/>
          </a:bodyPr>
          <a:lstStyle/>
          <a:p>
            <a:pPr algn="l">
              <a:lnSpc>
                <a:spcPts val="5047"/>
              </a:lnSpc>
            </a:pPr>
            <a:r>
              <a:rPr lang="en-US" b="true" sz="4900" spc="788">
                <a:solidFill>
                  <a:srgbClr val="ECC848"/>
                </a:solidFill>
                <a:latin typeface="Canva Sans Bold"/>
                <a:ea typeface="Canva Sans Bold"/>
                <a:cs typeface="Canva Sans Bold"/>
                <a:sym typeface="Canva Sans Bold"/>
              </a:rPr>
              <a:t>MẠCH PROTEUS</a:t>
            </a:r>
          </a:p>
          <a:p>
            <a:pPr algn="l">
              <a:lnSpc>
                <a:spcPts val="5562"/>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0">
            <a:off x="0" y="5740414"/>
            <a:ext cx="6411852" cy="4546586"/>
          </a:xfrm>
          <a:custGeom>
            <a:avLst/>
            <a:gdLst/>
            <a:ahLst/>
            <a:cxnLst/>
            <a:rect r="r" b="b" t="t" l="l"/>
            <a:pathLst>
              <a:path h="4546586" w="6411852">
                <a:moveTo>
                  <a:pt x="0" y="4546586"/>
                </a:moveTo>
                <a:lnTo>
                  <a:pt x="6411852" y="4546586"/>
                </a:lnTo>
                <a:lnTo>
                  <a:pt x="6411852" y="0"/>
                </a:lnTo>
                <a:lnTo>
                  <a:pt x="0" y="0"/>
                </a:lnTo>
                <a:lnTo>
                  <a:pt x="0" y="454658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5400000">
            <a:off x="765386" y="-765386"/>
            <a:ext cx="2584028" cy="4114800"/>
          </a:xfrm>
          <a:custGeom>
            <a:avLst/>
            <a:gdLst/>
            <a:ahLst/>
            <a:cxnLst/>
            <a:rect r="r" b="b" t="t" l="l"/>
            <a:pathLst>
              <a:path h="4114800" w="2584028">
                <a:moveTo>
                  <a:pt x="2584028" y="0"/>
                </a:moveTo>
                <a:lnTo>
                  <a:pt x="0" y="0"/>
                </a:lnTo>
                <a:lnTo>
                  <a:pt x="0" y="4114800"/>
                </a:lnTo>
                <a:lnTo>
                  <a:pt x="2584028" y="4114800"/>
                </a:lnTo>
                <a:lnTo>
                  <a:pt x="25840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446430">
            <a:off x="1267182" y="7059519"/>
            <a:ext cx="2619940" cy="2589998"/>
          </a:xfrm>
          <a:custGeom>
            <a:avLst/>
            <a:gdLst/>
            <a:ahLst/>
            <a:cxnLst/>
            <a:rect r="r" b="b" t="t" l="l"/>
            <a:pathLst>
              <a:path h="2589998" w="2619940">
                <a:moveTo>
                  <a:pt x="0" y="0"/>
                </a:moveTo>
                <a:lnTo>
                  <a:pt x="2619940" y="0"/>
                </a:lnTo>
                <a:lnTo>
                  <a:pt x="2619940" y="2589998"/>
                </a:lnTo>
                <a:lnTo>
                  <a:pt x="0" y="25899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953383" y="3801110"/>
            <a:ext cx="12381234" cy="2789555"/>
          </a:xfrm>
          <a:prstGeom prst="rect">
            <a:avLst/>
          </a:prstGeom>
        </p:spPr>
        <p:txBody>
          <a:bodyPr anchor="t" rtlCol="false" tIns="0" lIns="0" bIns="0" rIns="0">
            <a:spAutoFit/>
          </a:bodyPr>
          <a:lstStyle/>
          <a:p>
            <a:pPr algn="ctr">
              <a:lnSpc>
                <a:spcPts val="7209"/>
              </a:lnSpc>
            </a:pPr>
            <a:r>
              <a:rPr lang="en-US" b="true" sz="6999" spc="1126">
                <a:solidFill>
                  <a:srgbClr val="ECC848"/>
                </a:solidFill>
                <a:latin typeface="Bricolage Grotesque 18 Bold"/>
                <a:ea typeface="Bricolage Grotesque 18 Bold"/>
                <a:cs typeface="Bricolage Grotesque 18 Bold"/>
                <a:sym typeface="Bricolage Grotesque 18 Bold"/>
              </a:rPr>
              <a:t>NGUYÊN LÝ HOẠT ĐỘNG VÀ CHỨC NĂNG CHÍNH</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5342" y="712271"/>
            <a:ext cx="18029715" cy="9014858"/>
          </a:xfrm>
          <a:custGeom>
            <a:avLst/>
            <a:gdLst/>
            <a:ahLst/>
            <a:cxnLst/>
            <a:rect r="r" b="b" t="t" l="l"/>
            <a:pathLst>
              <a:path h="9014858" w="18029715">
                <a:moveTo>
                  <a:pt x="0" y="0"/>
                </a:moveTo>
                <a:lnTo>
                  <a:pt x="18029716" y="0"/>
                </a:lnTo>
                <a:lnTo>
                  <a:pt x="18029716" y="9014858"/>
                </a:lnTo>
                <a:lnTo>
                  <a:pt x="0" y="9014858"/>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79126" y="1831043"/>
            <a:ext cx="14682148" cy="6381750"/>
          </a:xfrm>
          <a:prstGeom prst="rect">
            <a:avLst/>
          </a:prstGeom>
        </p:spPr>
        <p:txBody>
          <a:bodyPr anchor="t" rtlCol="false" tIns="0" lIns="0" bIns="0" rIns="0">
            <a:spAutoFit/>
          </a:bodyPr>
          <a:lstStyle/>
          <a:p>
            <a:pPr algn="just">
              <a:lnSpc>
                <a:spcPts val="4200"/>
              </a:lnSpc>
            </a:pPr>
            <a:r>
              <a:rPr lang="en-US" sz="3000" b="true">
                <a:solidFill>
                  <a:srgbClr val="ECC848"/>
                </a:solidFill>
                <a:latin typeface="Canva Sans Bold"/>
                <a:ea typeface="Canva Sans Bold"/>
                <a:cs typeface="Canva Sans Bold"/>
                <a:sym typeface="Canva Sans Bold"/>
              </a:rPr>
              <a:t>Chức năng Thiết lập Chế độ Giặt (Chọn Mode)</a:t>
            </a:r>
          </a:p>
          <a:p>
            <a:pPr algn="just">
              <a:lnSpc>
                <a:spcPts val="4200"/>
              </a:lnSpc>
            </a:pPr>
          </a:p>
          <a:p>
            <a:pPr algn="just">
              <a:lnSpc>
                <a:spcPts val="4200"/>
              </a:lnSpc>
              <a:spcBef>
                <a:spcPct val="0"/>
              </a:spcBef>
            </a:pPr>
            <a:r>
              <a:rPr lang="en-US" sz="3000">
                <a:solidFill>
                  <a:srgbClr val="ECC848"/>
                </a:solidFill>
                <a:latin typeface="Canva Sans"/>
                <a:ea typeface="Canva Sans"/>
                <a:cs typeface="Canva Sans"/>
                <a:sym typeface="Canva Sans"/>
              </a:rPr>
              <a:t>Chức năng này cho phép người dùng cấu hình chu trình giặt phù hợp với từng loại vải thông q</a:t>
            </a:r>
            <a:r>
              <a:rPr lang="en-US" sz="3000">
                <a:solidFill>
                  <a:srgbClr val="ECC848"/>
                </a:solidFill>
                <a:latin typeface="Canva Sans"/>
                <a:ea typeface="Canva Sans"/>
                <a:cs typeface="Canva Sans"/>
                <a:sym typeface="Canva Sans"/>
              </a:rPr>
              <a:t>ua nút nhấn BM (P3.2) khi máy đang ở trạng thái chờ (IDLE). Hệ thống hỗ trợ 4 chế độ:</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Cotton (Ct): Chế độ giặt kỹ nhất, lâu nhất với số lần giũ nhiều nhất (3 lần).</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Synthetic (Sy - Đồ tổng hợp): Thời gian giặt trung bình, giũ 2 lần.</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Delicate (De - Đồ mỏng/vải lụa): Thời gian ngắn, giũ 2 lần, động cơ quay nhẹ nhàng hơn.</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Quick (Qk - Giặt nhanh): Thời gian tối ưu ngắn nhất, chỉ giũ 1 lần để tiết kiệm điện nước.</a:t>
            </a:r>
          </a:p>
          <a:p>
            <a:pPr algn="just">
              <a:lnSpc>
                <a:spcPts val="420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79126" y="1831043"/>
            <a:ext cx="14682148" cy="4781550"/>
          </a:xfrm>
          <a:prstGeom prst="rect">
            <a:avLst/>
          </a:prstGeom>
        </p:spPr>
        <p:txBody>
          <a:bodyPr anchor="t" rtlCol="false" tIns="0" lIns="0" bIns="0" rIns="0">
            <a:spAutoFit/>
          </a:bodyPr>
          <a:lstStyle/>
          <a:p>
            <a:pPr algn="just">
              <a:lnSpc>
                <a:spcPts val="4200"/>
              </a:lnSpc>
            </a:pPr>
            <a:r>
              <a:rPr lang="en-US" sz="3000" b="true">
                <a:solidFill>
                  <a:srgbClr val="ECC848"/>
                </a:solidFill>
                <a:latin typeface="Canva Sans Bold"/>
                <a:ea typeface="Canva Sans Bold"/>
                <a:cs typeface="Canva Sans Bold"/>
                <a:sym typeface="Canva Sans Bold"/>
              </a:rPr>
              <a:t>Chức năng Thiết lập Mức Nước (Water Level)</a:t>
            </a:r>
          </a:p>
          <a:p>
            <a:pPr algn="just">
              <a:lnSpc>
                <a:spcPts val="4200"/>
              </a:lnSpc>
            </a:pPr>
          </a:p>
          <a:p>
            <a:pPr algn="just">
              <a:lnSpc>
                <a:spcPts val="4200"/>
              </a:lnSpc>
              <a:spcBef>
                <a:spcPct val="0"/>
              </a:spcBef>
            </a:pPr>
            <a:r>
              <a:rPr lang="en-US" sz="3000">
                <a:solidFill>
                  <a:srgbClr val="ECC848"/>
                </a:solidFill>
                <a:latin typeface="Canva Sans"/>
                <a:ea typeface="Canva Sans"/>
                <a:cs typeface="Canva Sans"/>
                <a:sym typeface="Canva Sans"/>
              </a:rPr>
              <a:t>Người dùng điều chỉnh lượng nước cấp vào lồng giặt thông q</a:t>
            </a:r>
            <a:r>
              <a:rPr lang="en-US" sz="3000">
                <a:solidFill>
                  <a:srgbClr val="ECC848"/>
                </a:solidFill>
                <a:latin typeface="Canva Sans"/>
                <a:ea typeface="Canva Sans"/>
                <a:cs typeface="Canva Sans"/>
                <a:sym typeface="Canva Sans"/>
              </a:rPr>
              <a:t>ua nút nhấn BW (P3.3) (chỉ chỉnh được khi ở trạng thái IDLE). Cấu hình này sẽ trực tiếp thay đổi thời gian mở van cấp nước:</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Low</a:t>
            </a:r>
            <a:r>
              <a:rPr lang="en-US" sz="3000">
                <a:solidFill>
                  <a:srgbClr val="ECC848"/>
                </a:solidFill>
                <a:latin typeface="Canva Sans"/>
                <a:ea typeface="Canva Sans"/>
                <a:cs typeface="Canva Sans"/>
                <a:sym typeface="Canva Sans"/>
              </a:rPr>
              <a:t> (Lo - Mức thấp): Mở van cấp nước trong 3 giây.</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M</a:t>
            </a:r>
            <a:r>
              <a:rPr lang="en-US" sz="3000">
                <a:solidFill>
                  <a:srgbClr val="ECC848"/>
                </a:solidFill>
                <a:latin typeface="Canva Sans"/>
                <a:ea typeface="Canva Sans"/>
                <a:cs typeface="Canva Sans"/>
                <a:sym typeface="Canva Sans"/>
              </a:rPr>
              <a:t>edium (Md - Mức vừa): Mở van cấp nước trong 5 giây.</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H</a:t>
            </a:r>
            <a:r>
              <a:rPr lang="en-US" sz="3000">
                <a:solidFill>
                  <a:srgbClr val="ECC848"/>
                </a:solidFill>
                <a:latin typeface="Canva Sans"/>
                <a:ea typeface="Canva Sans"/>
                <a:cs typeface="Canva Sans"/>
                <a:sym typeface="Canva Sans"/>
              </a:rPr>
              <a:t>igh (Hi - Mức cao): Mở van cấp nước trong 8 giây.</a:t>
            </a:r>
          </a:p>
          <a:p>
            <a:pPr algn="just">
              <a:lnSpc>
                <a:spcPts val="420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02926" y="1518127"/>
            <a:ext cx="14682148" cy="7448550"/>
          </a:xfrm>
          <a:prstGeom prst="rect">
            <a:avLst/>
          </a:prstGeom>
        </p:spPr>
        <p:txBody>
          <a:bodyPr anchor="t" rtlCol="false" tIns="0" lIns="0" bIns="0" rIns="0">
            <a:spAutoFit/>
          </a:bodyPr>
          <a:lstStyle/>
          <a:p>
            <a:pPr algn="just">
              <a:lnSpc>
                <a:spcPts val="4200"/>
              </a:lnSpc>
            </a:pPr>
            <a:r>
              <a:rPr lang="en-US" sz="3000" b="true">
                <a:solidFill>
                  <a:srgbClr val="ECC848"/>
                </a:solidFill>
                <a:latin typeface="Canva Sans Bold"/>
                <a:ea typeface="Canva Sans Bold"/>
                <a:cs typeface="Canva Sans Bold"/>
                <a:sym typeface="Canva Sans Bold"/>
              </a:rPr>
              <a:t>Chức năng Quản lý Chu trình Giặt Tự động (FSM Control)</a:t>
            </a:r>
          </a:p>
          <a:p>
            <a:pPr algn="just">
              <a:lnSpc>
                <a:spcPts val="4200"/>
              </a:lnSpc>
            </a:pPr>
          </a:p>
          <a:p>
            <a:pPr algn="just">
              <a:lnSpc>
                <a:spcPts val="4200"/>
              </a:lnSpc>
              <a:spcBef>
                <a:spcPct val="0"/>
              </a:spcBef>
            </a:pPr>
            <a:r>
              <a:rPr lang="en-US" sz="3000">
                <a:solidFill>
                  <a:srgbClr val="ECC848"/>
                </a:solidFill>
                <a:latin typeface="Canva Sans"/>
                <a:ea typeface="Canva Sans"/>
                <a:cs typeface="Canva Sans"/>
                <a:sym typeface="Canva Sans"/>
              </a:rPr>
              <a:t>Kh</a:t>
            </a:r>
            <a:r>
              <a:rPr lang="en-US" sz="3000">
                <a:solidFill>
                  <a:srgbClr val="ECC848"/>
                </a:solidFill>
                <a:latin typeface="Canva Sans"/>
                <a:ea typeface="Canva Sans"/>
                <a:cs typeface="Canva Sans"/>
                <a:sym typeface="Canva Sans"/>
              </a:rPr>
              <a:t>i nhấn nút BS (P3.0), hệ thống sẽ tự động tính toán tổng thời gian giặt dự kiến (T) dự</a:t>
            </a:r>
            <a:r>
              <a:rPr lang="en-US" sz="3000">
                <a:solidFill>
                  <a:srgbClr val="ECC848"/>
                </a:solidFill>
                <a:latin typeface="Canva Sans"/>
                <a:ea typeface="Canva Sans"/>
                <a:cs typeface="Canva Sans"/>
                <a:sym typeface="Canva Sans"/>
              </a:rPr>
              <a:t>a trên Chế độ và Mức nước đã chọn, sau đó tự động vận hành tuần tự qua các giai đoạn mà không cần người dùng can thiệp:</a:t>
            </a:r>
          </a:p>
          <a:p>
            <a:pPr algn="just" marL="647700" indent="-323850" lvl="1">
              <a:lnSpc>
                <a:spcPts val="4200"/>
              </a:lnSpc>
              <a:spcBef>
                <a:spcPct val="0"/>
              </a:spcBef>
              <a:buAutoNum type="arabicPeriod" startAt="1"/>
            </a:pPr>
            <a:r>
              <a:rPr lang="en-US" sz="3000">
                <a:solidFill>
                  <a:srgbClr val="ECC848"/>
                </a:solidFill>
                <a:latin typeface="Canva Sans"/>
                <a:ea typeface="Canva Sans"/>
                <a:cs typeface="Canva Sans"/>
                <a:sym typeface="Canva Sans"/>
              </a:rPr>
              <a:t>FILLING (Cấp nước): Kích van nước (VA) và đèn LF sáng.</a:t>
            </a:r>
          </a:p>
          <a:p>
            <a:pPr algn="just" marL="647700" indent="-323850" lvl="1">
              <a:lnSpc>
                <a:spcPts val="4200"/>
              </a:lnSpc>
              <a:spcBef>
                <a:spcPct val="0"/>
              </a:spcBef>
              <a:buAutoNum type="arabicPeriod" startAt="1"/>
            </a:pPr>
            <a:r>
              <a:rPr lang="en-US" sz="3000">
                <a:solidFill>
                  <a:srgbClr val="ECC848"/>
                </a:solidFill>
                <a:latin typeface="Canva Sans"/>
                <a:ea typeface="Canva Sans"/>
                <a:cs typeface="Canva Sans"/>
                <a:sym typeface="Canva Sans"/>
              </a:rPr>
              <a:t>WASHING (Giặt): Đèn LW sáng, kích hoạt thuật toán đảo chiều motor (bật/tắt liên tục mỗi 1 giây) để đảo quần áo.</a:t>
            </a:r>
          </a:p>
          <a:p>
            <a:pPr algn="just" marL="647700" indent="-323850" lvl="1">
              <a:lnSpc>
                <a:spcPts val="4200"/>
              </a:lnSpc>
              <a:spcBef>
                <a:spcPct val="0"/>
              </a:spcBef>
              <a:buAutoNum type="arabicPeriod" startAt="1"/>
            </a:pPr>
            <a:r>
              <a:rPr lang="en-US" sz="3000">
                <a:solidFill>
                  <a:srgbClr val="ECC848"/>
                </a:solidFill>
                <a:latin typeface="Canva Sans"/>
                <a:ea typeface="Canva Sans"/>
                <a:cs typeface="Canva Sans"/>
                <a:sym typeface="Canva Sans"/>
              </a:rPr>
              <a:t>DRAINING (Xả nước thải): Mở van xả VA để thoát nước bẩn ra ngoài.</a:t>
            </a:r>
          </a:p>
          <a:p>
            <a:pPr algn="just" marL="647700" indent="-323850" lvl="1">
              <a:lnSpc>
                <a:spcPts val="4200"/>
              </a:lnSpc>
              <a:spcBef>
                <a:spcPct val="0"/>
              </a:spcBef>
              <a:buAutoNum type="arabicPeriod" startAt="1"/>
            </a:pPr>
            <a:r>
              <a:rPr lang="en-US" sz="3000">
                <a:solidFill>
                  <a:srgbClr val="ECC848"/>
                </a:solidFill>
                <a:latin typeface="Canva Sans"/>
                <a:ea typeface="Canva Sans"/>
                <a:cs typeface="Canva Sans"/>
                <a:sym typeface="Canva Sans"/>
              </a:rPr>
              <a:t>RINSING</a:t>
            </a:r>
            <a:r>
              <a:rPr lang="en-US" sz="3000">
                <a:solidFill>
                  <a:srgbClr val="ECC848"/>
                </a:solidFill>
                <a:latin typeface="Canva Sans"/>
                <a:ea typeface="Canva Sans"/>
                <a:cs typeface="Canva Sans"/>
                <a:sym typeface="Canva Sans"/>
              </a:rPr>
              <a:t> (Giũ): Đèn LR sáng, kết hợp vừa cấp nước vừa quay motor để làm sạch bọt xà phòng.</a:t>
            </a:r>
          </a:p>
          <a:p>
            <a:pPr algn="just" marL="647700" indent="-323850" lvl="1">
              <a:lnSpc>
                <a:spcPts val="4200"/>
              </a:lnSpc>
              <a:spcBef>
                <a:spcPct val="0"/>
              </a:spcBef>
              <a:buAutoNum type="arabicPeriod" startAt="1"/>
            </a:pPr>
            <a:r>
              <a:rPr lang="en-US" sz="3000">
                <a:solidFill>
                  <a:srgbClr val="ECC848"/>
                </a:solidFill>
                <a:latin typeface="Canva Sans"/>
                <a:ea typeface="Canva Sans"/>
                <a:cs typeface="Canva Sans"/>
                <a:sym typeface="Canva Sans"/>
              </a:rPr>
              <a:t>SPINNING (Vắt): Đèn LS sáng, quay motor tốc độ cao đồng thời mở van xả để vắt ráo nước.</a:t>
            </a:r>
          </a:p>
          <a:p>
            <a:pPr algn="just">
              <a:lnSpc>
                <a:spcPts val="420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02926" y="1831043"/>
            <a:ext cx="14682148" cy="5848350"/>
          </a:xfrm>
          <a:prstGeom prst="rect">
            <a:avLst/>
          </a:prstGeom>
        </p:spPr>
        <p:txBody>
          <a:bodyPr anchor="t" rtlCol="false" tIns="0" lIns="0" bIns="0" rIns="0">
            <a:spAutoFit/>
          </a:bodyPr>
          <a:lstStyle/>
          <a:p>
            <a:pPr algn="just">
              <a:lnSpc>
                <a:spcPts val="4200"/>
              </a:lnSpc>
            </a:pPr>
            <a:r>
              <a:rPr lang="en-US" sz="3000" b="true">
                <a:solidFill>
                  <a:srgbClr val="ECC848"/>
                </a:solidFill>
                <a:latin typeface="Canva Sans Bold"/>
                <a:ea typeface="Canva Sans Bold"/>
                <a:cs typeface="Canva Sans Bold"/>
                <a:sym typeface="Canva Sans Bold"/>
              </a:rPr>
              <a:t>Chức năng Tạm dừng và Khôi phục (Pause / Resume)</a:t>
            </a:r>
          </a:p>
          <a:p>
            <a:pPr algn="just">
              <a:lnSpc>
                <a:spcPts val="4200"/>
              </a:lnSpc>
            </a:pPr>
          </a:p>
          <a:p>
            <a:pPr algn="just">
              <a:lnSpc>
                <a:spcPts val="4200"/>
              </a:lnSpc>
            </a:pPr>
            <a:r>
              <a:rPr lang="en-US" sz="3000">
                <a:solidFill>
                  <a:srgbClr val="ECC848"/>
                </a:solidFill>
                <a:latin typeface="Canva Sans"/>
                <a:ea typeface="Canva Sans"/>
                <a:cs typeface="Canva Sans"/>
                <a:sym typeface="Canva Sans"/>
              </a:rPr>
              <a:t>Trong khi máy đang thực hiện chu trình giặt (từ giai đoạn 1 đến 5), nếu người dùng nhấn nút BP (P3.1):</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Tạm dừng (Pause): Toàn bộ động cơ (MO) và van (VA) lập</a:t>
            </a:r>
            <a:r>
              <a:rPr lang="en-US" sz="3000">
                <a:solidFill>
                  <a:srgbClr val="ECC848"/>
                </a:solidFill>
                <a:latin typeface="Canva Sans"/>
                <a:ea typeface="Canva Sans"/>
                <a:cs typeface="Canva Sans"/>
                <a:sym typeface="Canva Sans"/>
              </a:rPr>
              <a:t> tức bị ngắt điện để đảm bảo an toàn. Hệ thống đóng băng bộ đếm thời gian, màn hình LCD hiển thị chớp nháy dòng chữ  PAUSED , đồng thời đèn LED của giai đoạn đang chạy trước đó sẽ nhấp nháy liên tục để báo hiệu máy đang dừng ở bước nào.</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Tiếp tục</a:t>
            </a:r>
            <a:r>
              <a:rPr lang="en-US" sz="3000">
                <a:solidFill>
                  <a:srgbClr val="ECC848"/>
                </a:solidFill>
                <a:latin typeface="Canva Sans"/>
                <a:ea typeface="Canva Sans"/>
                <a:cs typeface="Canva Sans"/>
                <a:sym typeface="Canva Sans"/>
              </a:rPr>
              <a:t> (Resume): Nhấn lại nút BP, máy sẽ khôi phục chính xác trạng thái và tiếp tục đếm ngược thời gian từ thời điểm bị tạm dừng.</a:t>
            </a:r>
          </a:p>
          <a:p>
            <a:pPr algn="just">
              <a:lnSpc>
                <a:spcPts val="420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00" y="152400"/>
            <a:ext cx="18135600" cy="10134600"/>
            <a:chOff x="0" y="0"/>
            <a:chExt cx="4776454" cy="2669195"/>
          </a:xfrm>
        </p:grpSpPr>
        <p:sp>
          <p:nvSpPr>
            <p:cNvPr name="Freeform 3" id="3"/>
            <p:cNvSpPr/>
            <p:nvPr/>
          </p:nvSpPr>
          <p:spPr>
            <a:xfrm flipH="false" flipV="false" rot="0">
              <a:off x="0" y="0"/>
              <a:ext cx="4776454" cy="2669195"/>
            </a:xfrm>
            <a:custGeom>
              <a:avLst/>
              <a:gdLst/>
              <a:ahLst/>
              <a:cxnLst/>
              <a:rect r="r" b="b" t="t" l="l"/>
              <a:pathLst>
                <a:path h="2669195" w="4776454">
                  <a:moveTo>
                    <a:pt x="0" y="0"/>
                  </a:moveTo>
                  <a:lnTo>
                    <a:pt x="4776454" y="0"/>
                  </a:lnTo>
                  <a:lnTo>
                    <a:pt x="4776454" y="2669195"/>
                  </a:lnTo>
                  <a:lnTo>
                    <a:pt x="0" y="2669195"/>
                  </a:lnTo>
                  <a:close/>
                </a:path>
              </a:pathLst>
            </a:custGeom>
            <a:solidFill>
              <a:srgbClr val="0A232F"/>
            </a:solidFill>
          </p:spPr>
        </p:sp>
        <p:sp>
          <p:nvSpPr>
            <p:cNvPr name="TextBox 4" id="4"/>
            <p:cNvSpPr txBox="true"/>
            <p:nvPr/>
          </p:nvSpPr>
          <p:spPr>
            <a:xfrm>
              <a:off x="0" y="-38100"/>
              <a:ext cx="4776454" cy="270729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090664" y="1170675"/>
            <a:ext cx="4091451" cy="1435037"/>
          </a:xfrm>
          <a:custGeom>
            <a:avLst/>
            <a:gdLst/>
            <a:ahLst/>
            <a:cxnLst/>
            <a:rect r="r" b="b" t="t" l="l"/>
            <a:pathLst>
              <a:path h="1435037" w="4091451">
                <a:moveTo>
                  <a:pt x="0" y="0"/>
                </a:moveTo>
                <a:lnTo>
                  <a:pt x="4091451" y="0"/>
                </a:lnTo>
                <a:lnTo>
                  <a:pt x="4091451" y="1435037"/>
                </a:lnTo>
                <a:lnTo>
                  <a:pt x="0" y="14350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02926" y="1831043"/>
            <a:ext cx="14682148" cy="7448550"/>
          </a:xfrm>
          <a:prstGeom prst="rect">
            <a:avLst/>
          </a:prstGeom>
        </p:spPr>
        <p:txBody>
          <a:bodyPr anchor="t" rtlCol="false" tIns="0" lIns="0" bIns="0" rIns="0">
            <a:spAutoFit/>
          </a:bodyPr>
          <a:lstStyle/>
          <a:p>
            <a:pPr algn="just">
              <a:lnSpc>
                <a:spcPts val="4200"/>
              </a:lnSpc>
            </a:pPr>
            <a:r>
              <a:rPr lang="en-US" sz="3000" b="true">
                <a:solidFill>
                  <a:srgbClr val="ECC848"/>
                </a:solidFill>
                <a:latin typeface="Canva Sans Bold"/>
                <a:ea typeface="Canva Sans Bold"/>
                <a:cs typeface="Canva Sans Bold"/>
                <a:sym typeface="Canva Sans Bold"/>
              </a:rPr>
              <a:t>Hệ thống hiển thị &amp; Cảnh báo Trực quan (HMI)</a:t>
            </a:r>
          </a:p>
          <a:p>
            <a:pPr algn="just">
              <a:lnSpc>
                <a:spcPts val="4200"/>
              </a:lnSpc>
            </a:pPr>
          </a:p>
          <a:p>
            <a:pPr algn="just" marL="647700" indent="-323850" lvl="1">
              <a:lnSpc>
                <a:spcPts val="4200"/>
              </a:lnSpc>
              <a:buFont typeface="Arial"/>
              <a:buChar char="•"/>
            </a:pPr>
            <a:r>
              <a:rPr lang="en-US" sz="3000">
                <a:solidFill>
                  <a:srgbClr val="ECC848"/>
                </a:solidFill>
                <a:latin typeface="Canva Sans"/>
                <a:ea typeface="Canva Sans"/>
                <a:cs typeface="Canva Sans"/>
                <a:sym typeface="Canva Sans"/>
              </a:rPr>
              <a:t>Màn hình LCD 16x2: * Dòng 1: Hiển thị trạng thái hiện tại (IDLE, WASHING, SPINNING...), Chế độ giặt (Ct, Sy, De, Qk), và Mức nước (Lo, Md, Hi).</a:t>
            </a:r>
          </a:p>
          <a:p>
            <a:pPr algn="just" marL="1295400" indent="-431800" lvl="2">
              <a:lnSpc>
                <a:spcPts val="4200"/>
              </a:lnSpc>
              <a:spcBef>
                <a:spcPct val="0"/>
              </a:spcBef>
              <a:buFont typeface="Arial"/>
              <a:buChar char="⚬"/>
            </a:pPr>
            <a:r>
              <a:rPr lang="en-US" sz="3000">
                <a:solidFill>
                  <a:srgbClr val="ECC848"/>
                </a:solidFill>
                <a:latin typeface="Canva Sans"/>
                <a:ea typeface="Canva Sans"/>
                <a:cs typeface="Canva Sans"/>
                <a:sym typeface="Canva Sans"/>
              </a:rPr>
              <a:t>Dòng 2: Hiển thị thời gian còn lại của giai đoạn hiện tại (MM:SS) và tổng thời gian đếm lùi</a:t>
            </a:r>
            <a:r>
              <a:rPr lang="en-US" sz="3000">
                <a:solidFill>
                  <a:srgbClr val="ECC848"/>
                </a:solidFill>
                <a:latin typeface="Canva Sans"/>
                <a:ea typeface="Canva Sans"/>
                <a:cs typeface="Canva Sans"/>
                <a:sym typeface="Canva Sans"/>
              </a:rPr>
              <a:t> của cả chu trình giặt (T: MM:SS). Khi ở chế độ giũ, màn hình hiển thị thêm số lần giũ hiện tại (ví dụ: 1/3).</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Hệ thống Đèn LED: 5 đèn LED riêng biệt (LF, LW, LR, LS, LD) sáng tương ứng theo từng giai đoạn giúp người dùng quan sát từ xa.</a:t>
            </a:r>
          </a:p>
          <a:p>
            <a:pPr algn="just" marL="647700" indent="-323850" lvl="1">
              <a:lnSpc>
                <a:spcPts val="4200"/>
              </a:lnSpc>
              <a:spcBef>
                <a:spcPct val="0"/>
              </a:spcBef>
              <a:buFont typeface="Arial"/>
              <a:buChar char="•"/>
            </a:pPr>
            <a:r>
              <a:rPr lang="en-US" sz="3000">
                <a:solidFill>
                  <a:srgbClr val="ECC848"/>
                </a:solidFill>
                <a:latin typeface="Canva Sans"/>
                <a:ea typeface="Canva Sans"/>
                <a:cs typeface="Canva Sans"/>
                <a:sym typeface="Canva Sans"/>
              </a:rPr>
              <a:t>Cảnh báo Hoàn thành (DONE): Khi chu trình vắt kết thúc, máy chuyển sang trạng thái DONE, đèn LD và còi báo BUZ1 sẽ nhấp nháy/kêu tít tít liên tục theo nhịp 500ms để thông báo cho người dùng đến lấy quần áo. Nhấn nút BP lúc này sẽ đưa máy về trạng thái IDLE sẵn sàng cho mẻ giặt mới.</a:t>
            </a:r>
          </a:p>
          <a:p>
            <a:pPr algn="just">
              <a:lnSpc>
                <a:spcPts val="4200"/>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939"/>
                </a:lnSpc>
                <a:spcBef>
                  <a:spcPct val="0"/>
                </a:spcBef>
              </a:pPr>
            </a:p>
          </p:txBody>
        </p:sp>
      </p:grpSp>
      <p:sp>
        <p:nvSpPr>
          <p:cNvPr name="TextBox 5" id="5"/>
          <p:cNvSpPr txBox="true"/>
          <p:nvPr/>
        </p:nvSpPr>
        <p:spPr>
          <a:xfrm rot="0">
            <a:off x="869681" y="575175"/>
            <a:ext cx="13375962" cy="1030875"/>
          </a:xfrm>
          <a:prstGeom prst="rect">
            <a:avLst/>
          </a:prstGeom>
        </p:spPr>
        <p:txBody>
          <a:bodyPr anchor="t" rtlCol="false" tIns="0" lIns="0" bIns="0" rIns="0">
            <a:spAutoFit/>
          </a:bodyPr>
          <a:lstStyle/>
          <a:p>
            <a:pPr algn="l">
              <a:lnSpc>
                <a:spcPts val="7828"/>
              </a:lnSpc>
            </a:pPr>
            <a:r>
              <a:rPr lang="en-US" b="true" sz="7600" spc="1223">
                <a:solidFill>
                  <a:srgbClr val="ECC848"/>
                </a:solidFill>
                <a:latin typeface="Canva Sans Bold"/>
                <a:ea typeface="Canva Sans Bold"/>
                <a:cs typeface="Canva Sans Bold"/>
                <a:sym typeface="Canva Sans Bold"/>
              </a:rPr>
              <a:t>TÀI LIỆU THAM KHẢO</a:t>
            </a:r>
          </a:p>
        </p:txBody>
      </p:sp>
      <p:sp>
        <p:nvSpPr>
          <p:cNvPr name="TextBox 6" id="6"/>
          <p:cNvSpPr txBox="true"/>
          <p:nvPr/>
        </p:nvSpPr>
        <p:spPr>
          <a:xfrm rot="0">
            <a:off x="885595" y="2920519"/>
            <a:ext cx="16281711" cy="555625"/>
          </a:xfrm>
          <a:prstGeom prst="rect">
            <a:avLst/>
          </a:prstGeom>
        </p:spPr>
        <p:txBody>
          <a:bodyPr anchor="t" rtlCol="false" tIns="0" lIns="0" bIns="0" rIns="0">
            <a:spAutoFit/>
          </a:bodyPr>
          <a:lstStyle/>
          <a:p>
            <a:pPr algn="l">
              <a:lnSpc>
                <a:spcPts val="4640"/>
              </a:lnSpc>
            </a:pPr>
            <a:r>
              <a:rPr lang="en-US" sz="3200">
                <a:solidFill>
                  <a:srgbClr val="ECC848"/>
                </a:solidFill>
                <a:latin typeface="Josefin Sans"/>
                <a:ea typeface="Josefin Sans"/>
                <a:cs typeface="Josefin Sans"/>
                <a:sym typeface="Josefin Sans"/>
              </a:rPr>
              <a:t>[1] AT89C51 Datasheet – Microchip</a:t>
            </a:r>
          </a:p>
        </p:txBody>
      </p:sp>
      <p:sp>
        <p:nvSpPr>
          <p:cNvPr name="TextBox 7" id="7"/>
          <p:cNvSpPr txBox="true"/>
          <p:nvPr/>
        </p:nvSpPr>
        <p:spPr>
          <a:xfrm rot="0">
            <a:off x="885595" y="4025786"/>
            <a:ext cx="15080840" cy="574676"/>
          </a:xfrm>
          <a:prstGeom prst="rect">
            <a:avLst/>
          </a:prstGeom>
        </p:spPr>
        <p:txBody>
          <a:bodyPr anchor="t" rtlCol="false" tIns="0" lIns="0" bIns="0" rIns="0">
            <a:spAutoFit/>
          </a:bodyPr>
          <a:lstStyle/>
          <a:p>
            <a:pPr algn="l">
              <a:lnSpc>
                <a:spcPts val="4639"/>
              </a:lnSpc>
              <a:spcBef>
                <a:spcPct val="0"/>
              </a:spcBef>
            </a:pPr>
            <a:r>
              <a:rPr lang="en-US" sz="3199">
                <a:solidFill>
                  <a:srgbClr val="ECC848"/>
                </a:solidFill>
                <a:latin typeface="Josefin Sans"/>
                <a:ea typeface="Josefin Sans"/>
                <a:cs typeface="Josefin Sans"/>
                <a:sym typeface="Josefin Sans"/>
              </a:rPr>
              <a:t>[2] Ke</a:t>
            </a:r>
            <a:r>
              <a:rPr lang="en-US" sz="3199">
                <a:solidFill>
                  <a:srgbClr val="ECC848"/>
                </a:solidFill>
                <a:latin typeface="Josefin Sans"/>
                <a:ea typeface="Josefin Sans"/>
                <a:cs typeface="Josefin Sans"/>
                <a:sym typeface="Josefin Sans"/>
              </a:rPr>
              <a:t>il C51 Documentation</a:t>
            </a:r>
          </a:p>
        </p:txBody>
      </p:sp>
      <p:sp>
        <p:nvSpPr>
          <p:cNvPr name="TextBox 8" id="8"/>
          <p:cNvSpPr txBox="true"/>
          <p:nvPr/>
        </p:nvSpPr>
        <p:spPr>
          <a:xfrm rot="0">
            <a:off x="869681" y="5152911"/>
            <a:ext cx="15580067" cy="574676"/>
          </a:xfrm>
          <a:prstGeom prst="rect">
            <a:avLst/>
          </a:prstGeom>
        </p:spPr>
        <p:txBody>
          <a:bodyPr anchor="t" rtlCol="false" tIns="0" lIns="0" bIns="0" rIns="0">
            <a:spAutoFit/>
          </a:bodyPr>
          <a:lstStyle/>
          <a:p>
            <a:pPr algn="l">
              <a:lnSpc>
                <a:spcPts val="4639"/>
              </a:lnSpc>
              <a:spcBef>
                <a:spcPct val="0"/>
              </a:spcBef>
            </a:pPr>
            <a:r>
              <a:rPr lang="en-US" sz="3199">
                <a:solidFill>
                  <a:srgbClr val="ECC848"/>
                </a:solidFill>
                <a:latin typeface="Josefin Sans"/>
                <a:ea typeface="Josefin Sans"/>
                <a:cs typeface="Josefin Sans"/>
                <a:sym typeface="Josefin Sans"/>
              </a:rPr>
              <a:t>[3] Proteus D</a:t>
            </a:r>
            <a:r>
              <a:rPr lang="en-US" sz="3199">
                <a:solidFill>
                  <a:srgbClr val="ECC848"/>
                </a:solidFill>
                <a:latin typeface="Josefin Sans"/>
                <a:ea typeface="Josefin Sans"/>
                <a:cs typeface="Josefin Sans"/>
                <a:sym typeface="Josefin Sans"/>
              </a:rPr>
              <a:t>esign Suite Documentation</a:t>
            </a:r>
          </a:p>
        </p:txBody>
      </p:sp>
      <p:sp>
        <p:nvSpPr>
          <p:cNvPr name="TextBox 9" id="9"/>
          <p:cNvSpPr txBox="true"/>
          <p:nvPr/>
        </p:nvSpPr>
        <p:spPr>
          <a:xfrm rot="0">
            <a:off x="869681" y="6280037"/>
            <a:ext cx="15096754" cy="574676"/>
          </a:xfrm>
          <a:prstGeom prst="rect">
            <a:avLst/>
          </a:prstGeom>
        </p:spPr>
        <p:txBody>
          <a:bodyPr anchor="t" rtlCol="false" tIns="0" lIns="0" bIns="0" rIns="0">
            <a:spAutoFit/>
          </a:bodyPr>
          <a:lstStyle/>
          <a:p>
            <a:pPr algn="l">
              <a:lnSpc>
                <a:spcPts val="4639"/>
              </a:lnSpc>
              <a:spcBef>
                <a:spcPct val="0"/>
              </a:spcBef>
            </a:pPr>
            <a:r>
              <a:rPr lang="en-US" sz="3199">
                <a:solidFill>
                  <a:srgbClr val="ECC848"/>
                </a:solidFill>
                <a:latin typeface="Josefin Sans"/>
                <a:ea typeface="Josefin Sans"/>
                <a:cs typeface="Josefin Sans"/>
                <a:sym typeface="Josefin Sans"/>
              </a:rPr>
              <a:t>[4] E</a:t>
            </a:r>
            <a:r>
              <a:rPr lang="en-US" sz="3199">
                <a:solidFill>
                  <a:srgbClr val="ECC848"/>
                </a:solidFill>
                <a:latin typeface="Josefin Sans"/>
                <a:ea typeface="Josefin Sans"/>
                <a:cs typeface="Josefin Sans"/>
                <a:sym typeface="Josefin Sans"/>
              </a:rPr>
              <a:t>lectronicWings – 8051 Tutorials</a:t>
            </a:r>
          </a:p>
        </p:txBody>
      </p:sp>
      <p:sp>
        <p:nvSpPr>
          <p:cNvPr name="TextBox 10" id="10"/>
          <p:cNvSpPr txBox="true"/>
          <p:nvPr/>
        </p:nvSpPr>
        <p:spPr>
          <a:xfrm rot="0">
            <a:off x="869681" y="7407162"/>
            <a:ext cx="15580067" cy="574676"/>
          </a:xfrm>
          <a:prstGeom prst="rect">
            <a:avLst/>
          </a:prstGeom>
        </p:spPr>
        <p:txBody>
          <a:bodyPr anchor="t" rtlCol="false" tIns="0" lIns="0" bIns="0" rIns="0">
            <a:spAutoFit/>
          </a:bodyPr>
          <a:lstStyle/>
          <a:p>
            <a:pPr algn="l">
              <a:lnSpc>
                <a:spcPts val="4639"/>
              </a:lnSpc>
              <a:spcBef>
                <a:spcPct val="0"/>
              </a:spcBef>
            </a:pPr>
            <a:r>
              <a:rPr lang="en-US" sz="3199">
                <a:solidFill>
                  <a:srgbClr val="ECC848"/>
                </a:solidFill>
                <a:latin typeface="Josefin Sans"/>
                <a:ea typeface="Josefin Sans"/>
                <a:cs typeface="Josefin Sans"/>
                <a:sym typeface="Josefin Sans"/>
              </a:rPr>
              <a:t>[5] Mazidi – The 8051 Mic</a:t>
            </a:r>
            <a:r>
              <a:rPr lang="en-US" sz="3199">
                <a:solidFill>
                  <a:srgbClr val="ECC848"/>
                </a:solidFill>
                <a:latin typeface="Josefin Sans"/>
                <a:ea typeface="Josefin Sans"/>
                <a:cs typeface="Josefin Sans"/>
                <a:sym typeface="Josefin Sans"/>
              </a:rPr>
              <a:t>rocontroller and Embedded Systems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 y="0"/>
            <a:ext cx="18288871" cy="10287000"/>
            <a:chOff x="0" y="0"/>
            <a:chExt cx="4816822" cy="2709333"/>
          </a:xfrm>
        </p:grpSpPr>
        <p:sp>
          <p:nvSpPr>
            <p:cNvPr name="Freeform 3" id="3"/>
            <p:cNvSpPr/>
            <p:nvPr/>
          </p:nvSpPr>
          <p:spPr>
            <a:xfrm flipH="false" flipV="false" rot="0">
              <a:off x="0" y="0"/>
              <a:ext cx="4816822" cy="2709333"/>
            </a:xfrm>
            <a:custGeom>
              <a:avLst/>
              <a:gdLst/>
              <a:ahLst/>
              <a:cxnLst/>
              <a:rect r="r" b="b" t="t" l="l"/>
              <a:pathLst>
                <a:path h="2709333" w="4816822">
                  <a:moveTo>
                    <a:pt x="0" y="0"/>
                  </a:moveTo>
                  <a:lnTo>
                    <a:pt x="4816822" y="0"/>
                  </a:lnTo>
                  <a:lnTo>
                    <a:pt x="4816822" y="2709333"/>
                  </a:lnTo>
                  <a:lnTo>
                    <a:pt x="0" y="2709333"/>
                  </a:lnTo>
                  <a:close/>
                </a:path>
              </a:pathLst>
            </a:custGeom>
            <a:solidFill>
              <a:srgbClr val="0A232F"/>
            </a:solidFill>
          </p:spPr>
        </p:sp>
        <p:sp>
          <p:nvSpPr>
            <p:cNvPr name="TextBox 4" id="4"/>
            <p:cNvSpPr txBox="true"/>
            <p:nvPr/>
          </p:nvSpPr>
          <p:spPr>
            <a:xfrm>
              <a:off x="0" y="-38100"/>
              <a:ext cx="4816822"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0"/>
            <a:ext cx="15543544" cy="10287000"/>
          </a:xfrm>
          <a:custGeom>
            <a:avLst/>
            <a:gdLst/>
            <a:ahLst/>
            <a:cxnLst/>
            <a:rect r="r" b="b" t="t" l="l"/>
            <a:pathLst>
              <a:path h="10287000" w="15543544">
                <a:moveTo>
                  <a:pt x="0" y="0"/>
                </a:moveTo>
                <a:lnTo>
                  <a:pt x="15543544" y="0"/>
                </a:lnTo>
                <a:lnTo>
                  <a:pt x="15543544" y="10287000"/>
                </a:lnTo>
                <a:lnTo>
                  <a:pt x="0" y="10287000"/>
                </a:lnTo>
                <a:lnTo>
                  <a:pt x="0" y="0"/>
                </a:lnTo>
                <a:close/>
              </a:path>
            </a:pathLst>
          </a:custGeom>
          <a:blipFill>
            <a:blip r:embed="rId2">
              <a:alphaModFix amt="63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92690" y="3825647"/>
            <a:ext cx="13102619" cy="2988131"/>
          </a:xfrm>
          <a:prstGeom prst="rect">
            <a:avLst/>
          </a:prstGeom>
        </p:spPr>
        <p:txBody>
          <a:bodyPr anchor="t" rtlCol="false" tIns="0" lIns="0" bIns="0" rIns="0">
            <a:spAutoFit/>
          </a:bodyPr>
          <a:lstStyle/>
          <a:p>
            <a:pPr algn="l">
              <a:lnSpc>
                <a:spcPts val="22646"/>
              </a:lnSpc>
            </a:pPr>
            <a:r>
              <a:rPr lang="en-US" sz="21987" spc="3539">
                <a:solidFill>
                  <a:srgbClr val="ECC848"/>
                </a:solidFill>
                <a:latin typeface="League Gothic"/>
                <a:ea typeface="League Gothic"/>
                <a:cs typeface="League Gothic"/>
                <a:sym typeface="League Gothic"/>
              </a:rPr>
              <a:t>THANK YOU</a:t>
            </a:r>
          </a:p>
        </p:txBody>
      </p:sp>
      <p:sp>
        <p:nvSpPr>
          <p:cNvPr name="Freeform 7" id="7"/>
          <p:cNvSpPr/>
          <p:nvPr/>
        </p:nvSpPr>
        <p:spPr>
          <a:xfrm flipH="false" flipV="false" rot="0">
            <a:off x="0" y="0"/>
            <a:ext cx="4335517" cy="4114800"/>
          </a:xfrm>
          <a:custGeom>
            <a:avLst/>
            <a:gdLst/>
            <a:ahLst/>
            <a:cxnLst/>
            <a:rect r="r" b="b" t="t" l="l"/>
            <a:pathLst>
              <a:path h="4114800" w="4335517">
                <a:moveTo>
                  <a:pt x="0" y="0"/>
                </a:moveTo>
                <a:lnTo>
                  <a:pt x="4335517" y="0"/>
                </a:lnTo>
                <a:lnTo>
                  <a:pt x="433551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1772272" y="3771272"/>
            <a:ext cx="10287000" cy="2744456"/>
          </a:xfrm>
          <a:custGeom>
            <a:avLst/>
            <a:gdLst/>
            <a:ahLst/>
            <a:cxnLst/>
            <a:rect r="r" b="b" t="t" l="l"/>
            <a:pathLst>
              <a:path h="2744456" w="10287000">
                <a:moveTo>
                  <a:pt x="0" y="0"/>
                </a:moveTo>
                <a:lnTo>
                  <a:pt x="10287000" y="0"/>
                </a:lnTo>
                <a:lnTo>
                  <a:pt x="10287000" y="2744456"/>
                </a:lnTo>
                <a:lnTo>
                  <a:pt x="0" y="2744456"/>
                </a:lnTo>
                <a:lnTo>
                  <a:pt x="0" y="0"/>
                </a:lnTo>
                <a:close/>
              </a:path>
            </a:pathLst>
          </a:custGeom>
          <a:blipFill>
            <a:blip r:embed="rId6"/>
            <a:stretch>
              <a:fillRect l="-17" t="-8576" r="0" b="-12573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DAHJzif3AkI</dc:identifier>
  <dcterms:modified xsi:type="dcterms:W3CDTF">2011-08-01T06:04:30Z</dcterms:modified>
  <cp:revision>1</cp:revision>
  <dc:title>Bản sao của Thiết kế Vi mạch - L04 - Nhóm 9</dc:title>
</cp:coreProperties>
</file>